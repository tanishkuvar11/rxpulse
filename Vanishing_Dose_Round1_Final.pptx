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oboto Mon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font" Target="fonts/RobotoMono-regular.fntdata"/><Relationship Id="rId12" Type="http://schemas.openxmlformats.org/officeDocument/2006/relationships/font" Target="fonts/RobotoMono-bold.fntdata"/><Relationship Id="rId13" Type="http://schemas.openxmlformats.org/officeDocument/2006/relationships/font" Target="fonts/RobotoMono-italic.fntdata"/><Relationship Id="rId14"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b8809fd9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fb8809fd9c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174352" y="368775"/>
            <a:ext cx="6795300" cy="728100"/>
          </a:xfrm>
          <a:prstGeom prst="rect">
            <a:avLst/>
          </a:prstGeom>
          <a:noFill/>
          <a:ln cap="flat" cmpd="sng" w="9525">
            <a:solidFill>
              <a:schemeClr val="lt1"/>
            </a:solidFill>
            <a:prstDash val="solid"/>
            <a:round/>
            <a:headEnd len="sm" w="sm" type="none"/>
            <a:tailEnd len="sm" w="sm" type="none"/>
          </a:ln>
        </p:spPr>
        <p:txBody>
          <a:bodyPr anchorCtr="0" anchor="b" bIns="91425" lIns="91425" spcFirstLastPara="1" rIns="91425" wrap="square" tIns="91425">
            <a:normAutofit fontScale="90000"/>
          </a:bodyPr>
          <a:lstStyle/>
          <a:p>
            <a:pPr indent="0" lvl="0" marL="0" marR="0" rtl="0" algn="ctr">
              <a:lnSpc>
                <a:spcPct val="100000"/>
              </a:lnSpc>
              <a:spcBef>
                <a:spcPts val="0"/>
              </a:spcBef>
              <a:spcAft>
                <a:spcPts val="0"/>
              </a:spcAft>
              <a:buSzPct val="111111"/>
              <a:buNone/>
            </a:pPr>
            <a:r>
              <a:rPr lang="en-GB">
                <a:solidFill>
                  <a:srgbClr val="20124D"/>
                </a:solidFill>
                <a:latin typeface="Impact"/>
                <a:ea typeface="Impact"/>
                <a:cs typeface="Impact"/>
                <a:sym typeface="Impact"/>
              </a:rPr>
              <a:t>Manipal Hackathon 2026</a:t>
            </a:r>
            <a:endParaRPr>
              <a:solidFill>
                <a:srgbClr val="20124D"/>
              </a:solidFill>
              <a:latin typeface="Impact"/>
              <a:ea typeface="Impact"/>
              <a:cs typeface="Impact"/>
              <a:sym typeface="Impact"/>
            </a:endParaRPr>
          </a:p>
        </p:txBody>
      </p:sp>
      <p:sp>
        <p:nvSpPr>
          <p:cNvPr id="55" name="Google Shape;55;p13"/>
          <p:cNvSpPr txBox="1"/>
          <p:nvPr>
            <p:ph idx="1" type="subTitle"/>
          </p:nvPr>
        </p:nvSpPr>
        <p:spPr>
          <a:xfrm>
            <a:off x="112050" y="1683300"/>
            <a:ext cx="9144000" cy="3065700"/>
          </a:xfrm>
          <a:prstGeom prst="rect">
            <a:avLst/>
          </a:prstGeom>
          <a:noFill/>
          <a:ln>
            <a:noFill/>
          </a:ln>
        </p:spPr>
        <p:txBody>
          <a:bodyPr anchorCtr="0" anchor="t" bIns="137160" lIns="365760" spcFirstLastPara="1" rIns="365760" wrap="square" tIns="137160">
            <a:normAutofit fontScale="40000" lnSpcReduction="20000"/>
          </a:bodyPr>
          <a:lstStyle/>
          <a:p>
            <a:pPr indent="0" lvl="0" marL="0" rtl="0" algn="l">
              <a:lnSpc>
                <a:spcPct val="100000"/>
              </a:lnSpc>
              <a:spcBef>
                <a:spcPts val="0"/>
              </a:spcBef>
              <a:spcAft>
                <a:spcPts val="800"/>
              </a:spcAft>
              <a:buSzPct val="59867"/>
              <a:buNone/>
            </a:pPr>
            <a:r>
              <a:rPr sz="1300" b="1">
                <a:solidFill>
                  <a:srgbClr val="351C75"/>
                </a:solidFill>
                <a:latin typeface="Roboto Mono"/>
              </a:rPr>
              <a:t>Team Name:           </a:t>
            </a:r>
            <a:r>
              <a:rPr sz="1300" b="0">
                <a:solidFill>
                  <a:srgbClr val="1F2429"/>
                </a:solidFill>
                <a:latin typeface="Calibri"/>
              </a:rPr>
              <a:t>Vanishing Dose (Team Aman)</a:t>
            </a:r>
            <a:endParaRPr sz="4677">
              <a:solidFill>
                <a:schemeClr val="dk1"/>
              </a:solidFill>
              <a:latin typeface="Roboto Mono"/>
              <a:ea typeface="Roboto Mono"/>
              <a:cs typeface="Roboto Mono"/>
              <a:sym typeface="Roboto Mono"/>
            </a:endParaRPr>
          </a:p>
          <a:p>
            <a:pPr algn="l">
              <a:spcAft>
                <a:spcPts val="800"/>
              </a:spcAft>
            </a:pPr>
            <a:r>
              <a:rPr sz="1300" b="1">
                <a:solidFill>
                  <a:srgbClr val="351C75"/>
                </a:solidFill>
                <a:latin typeface="Roboto Mono"/>
              </a:rPr>
              <a:t>Track:               </a:t>
            </a:r>
            <a:r>
              <a:rPr sz="1300" b="0">
                <a:solidFill>
                  <a:srgbClr val="1F2429"/>
                </a:solidFill>
                <a:latin typeface="Calibri"/>
              </a:rPr>
              <a:t>Healthcare (SDG 3: Good Health and Well-being)</a:t>
            </a:r>
          </a:p>
          <a:p>
            <a:pPr algn="l">
              <a:spcAft>
                <a:spcPts val="800"/>
              </a:spcAft>
            </a:pPr>
            <a:r>
              <a:rPr sz="1300" b="1">
                <a:solidFill>
                  <a:srgbClr val="351C75"/>
                </a:solidFill>
                <a:latin typeface="Roboto Mono"/>
              </a:rPr>
              <a:t>Problem Statement:   </a:t>
            </a:r>
            <a:r>
              <a:rPr sz="1300" b="1">
                <a:solidFill>
                  <a:srgbClr val="1F2429"/>
                </a:solidFill>
                <a:latin typeface="Calibri"/>
              </a:rPr>
              <a:t>P01: The Vanishing Dose - Detecting Medication Non-Adherence Without Asking</a:t>
            </a:r>
          </a:p>
          <a:p>
            <a:pPr algn="l">
              <a:spcAft>
                <a:spcPts val="800"/>
              </a:spcAft>
            </a:pPr>
            <a:r>
              <a:rPr sz="1300" b="1">
                <a:solidFill>
                  <a:srgbClr val="351C75"/>
                </a:solidFill>
                <a:latin typeface="Roboto Mono"/>
              </a:rPr>
              <a:t>Solution Title:      </a:t>
            </a:r>
            <a:r>
              <a:rPr sz="1300" b="1">
                <a:solidFill>
                  <a:srgbClr val="1F2429"/>
                </a:solidFill>
                <a:latin typeface="Calibri"/>
              </a:rPr>
              <a:t>Vanishing Dose: Multi-Signal Clinical Decision Support &amp; Adherence Telemetry Engine</a:t>
            </a:r>
          </a:p>
          <a:p>
            <a:pPr algn="l">
              <a:spcAft>
                <a:spcPts val="800"/>
              </a:spcAft>
            </a:pPr>
            <a:r>
              <a:rPr sz="1300" b="1">
                <a:solidFill>
                  <a:srgbClr val="351C75"/>
                </a:solidFill>
                <a:latin typeface="Roboto Mono"/>
              </a:rPr>
              <a:t>Team Members:        </a:t>
            </a:r>
            <a:r>
              <a:rPr sz="1300" b="0">
                <a:solidFill>
                  <a:srgbClr val="1F2429"/>
                </a:solidFill>
                <a:latin typeface="Calibri"/>
              </a:rPr>
              <a:t>Aman, Tanish Kuvar</a:t>
            </a:r>
          </a:p>
          <a:p>
            <a:pPr algn="l">
              <a:spcAft>
                <a:spcPts val="800"/>
              </a:spcAft>
            </a:pPr>
            <a:r>
              <a:rPr sz="1300" b="1">
                <a:solidFill>
                  <a:srgbClr val="351C75"/>
                </a:solidFill>
                <a:latin typeface="Roboto Mono"/>
              </a:rPr>
              <a:t>Working Prototype:   </a:t>
            </a:r>
            <a:r>
              <a:rPr sz="1300" b="0">
                <a:solidFill>
                  <a:srgbClr val="16754C"/>
                </a:solidFill>
                <a:latin typeface="Calibri"/>
              </a:rPr>
              <a:t>https://github.com/tanishkuvar11/Vanishing-Dose (Live Demo: http://localhost:5173/simulator)</a:t>
            </a:r>
          </a:p>
          <a:p>
            <a:pPr algn="l">
              <a:spcAft>
                <a:spcPts val="800"/>
              </a:spcAft>
            </a:pPr>
            <a:r>
              <a:rPr sz="1300" b="1">
                <a:solidFill>
                  <a:srgbClr val="351C75"/>
                </a:solidFill>
                <a:latin typeface="Roboto Mono"/>
              </a:rPr>
              <a:t>Evaluation Target:   </a:t>
            </a:r>
            <a:r>
              <a:rPr sz="1300" b="0">
                <a:solidFill>
                  <a:srgbClr val="1F2429"/>
                </a:solidFill>
                <a:latin typeface="Calibri"/>
              </a:rPr>
              <a:t>Round 1 Ideation + Section 8.6 Prototype Bonus Submission</a:t>
            </a:r>
          </a:p>
        </p:txBody>
      </p:sp>
      <p:pic>
        <p:nvPicPr>
          <p:cNvPr id="56" name="Google Shape;56;p13"/>
          <p:cNvPicPr preferRelativeResize="0"/>
          <p:nvPr/>
        </p:nvPicPr>
        <p:blipFill rotWithShape="1">
          <a:blip r:embed="rId3">
            <a:alphaModFix/>
          </a:blip>
          <a:srcRect b="0" l="10" r="0" t="0"/>
          <a:stretch/>
        </p:blipFill>
        <p:spPr>
          <a:xfrm>
            <a:off x="8195825" y="86900"/>
            <a:ext cx="832675" cy="6115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a:defRPr sz="2800">
                <a:solidFill>
                  <a:srgbClr val="351C75"/>
                </a:solidFill>
                <a:latin typeface="Impact"/>
              </a:defRPr>
            </a:pPr>
            <a:r>
              <a:t>Solution</a:t>
            </a:r>
          </a:p>
        </p:txBody>
      </p:sp>
      <p:sp>
        <p:nvSpPr>
          <p:cNvPr id="62" name="Google Shape;62;p14"/>
          <p:cNvSpPr txBox="1"/>
          <p:nvPr>
            <p:ph idx="1" type="body"/>
          </p:nvPr>
        </p:nvSpPr>
        <p:spPr>
          <a:xfrm>
            <a:off x="365760" y="1024128"/>
            <a:ext cx="3977639" cy="3840480"/>
          </a:xfrm>
          <a:prstGeom prst="rect">
            <a:avLst/>
          </a:prstGeom>
          <a:noFill/>
          <a:ln>
            <a:noFill/>
          </a:ln>
        </p:spPr>
        <p:txBody>
          <a:bodyPr anchorCtr="0" anchor="t" lIns="45720" spcFirstLastPara="1" rIns="45720" wrap="square">
            <a:noAutofit/>
          </a:bodyPr>
          <a:lstStyle/>
          <a:p>
            <a:pPr indent="-292100" marL="457200" rtl="0" algn="l">
              <a:lnSpc>
                <a:spcPct val="115000"/>
              </a:lnSpc>
              <a:spcBef>
                <a:spcPts val="0"/>
              </a:spcBef>
              <a:spcAft>
                <a:spcPts val="200"/>
              </a:spcAft>
              <a:buSzPts val="1000"/>
              <a:buChar char="●"/>
            </a:pPr>
            <a:r>
              <a:rPr sz="950" b="1">
                <a:solidFill>
                  <a:srgbClr val="A31D24"/>
                </a:solidFill>
                <a:latin typeface="Roboto Mono"/>
              </a:rPr>
              <a:t>[THE CLINICAL BLIND SPOT] </a:t>
            </a:r>
            <a:r>
              <a:rPr sz="950" b="1">
                <a:solidFill>
                  <a:srgbClr val="20124D"/>
                </a:solidFill>
                <a:latin typeface="Calibri"/>
              </a:rPr>
              <a:t>The Lethal Reflex: When Doctors Escalate Doses for Missed Pills</a:t>
            </a:r>
            <a:endParaRPr sz="1000"/>
          </a:p>
          <a:p>
            <a:pPr lvl="1">
              <a:spcBef>
                <a:spcPts val="0"/>
              </a:spcBef>
              <a:spcAft>
                <a:spcPts val="250"/>
              </a:spcAft>
            </a:pPr>
            <a:r>
              <a:rPr sz="800" b="1">
                <a:solidFill>
                  <a:srgbClr val="1F2429"/>
                </a:solidFill>
                <a:latin typeface="Calibri"/>
              </a:rPr>
              <a:t>The Invisible Danger: </a:t>
            </a:r>
            <a:r>
              <a:rPr sz="800" b="0">
                <a:solidFill>
                  <a:srgbClr val="4A5560"/>
                </a:solidFill>
                <a:latin typeface="Calibri"/>
              </a:rPr>
              <a:t>When chronic patients (hypertension, diabetes) present with unmanaged readings, doctors reflexively double the dose. If the real cause was missed pills, escalating strength causes severe hypotension, bradycardia, or ICU readmissions once regular adherence resumes at home.</a:t>
            </a:r>
          </a:p>
          <a:p>
            <a:pPr lvl="1">
              <a:spcBef>
                <a:spcPts val="0"/>
              </a:spcBef>
              <a:spcAft>
                <a:spcPts val="250"/>
              </a:spcAft>
            </a:pPr>
            <a:r>
              <a:rPr sz="800" b="1">
                <a:solidFill>
                  <a:srgbClr val="1F2429"/>
                </a:solidFill>
                <a:latin typeface="Calibri"/>
              </a:rPr>
              <a:t>White-Coat Adherence: </a:t>
            </a:r>
            <a:r>
              <a:rPr sz="800" b="0">
                <a:solidFill>
                  <a:srgbClr val="4A5560"/>
                </a:solidFill>
                <a:latin typeface="Calibri"/>
              </a:rPr>
              <a:t>Patients frequently panic and take medication for 2 to 3 days before their clinic appointment. Clinic vitals look temporarily normal, masking weeks of dangerous unmedicated gaps from the doctor.</a:t>
            </a:r>
          </a:p>
          <a:p>
            <a:pPr>
              <a:spcBef>
                <a:spcPts val="500"/>
              </a:spcBef>
              <a:spcAft>
                <a:spcPts val="200"/>
              </a:spcAft>
            </a:pPr>
            <a:r>
              <a:rPr sz="950" b="1">
                <a:solidFill>
                  <a:srgbClr val="351C75"/>
                </a:solidFill>
                <a:latin typeface="Roboto Mono"/>
              </a:rPr>
              <a:t>[MULTI-SIGNAL TELEMETRY] </a:t>
            </a:r>
            <a:r>
              <a:rPr sz="950" b="1">
                <a:solidFill>
                  <a:srgbClr val="20124D"/>
                </a:solidFill>
                <a:latin typeface="Calibri"/>
              </a:rPr>
              <a:t>Continuous Triangulation: Detecting Gaps Without Asking Patients</a:t>
            </a:r>
          </a:p>
          <a:p>
            <a:pPr lvl="1">
              <a:spcBef>
                <a:spcPts val="0"/>
              </a:spcBef>
              <a:spcAft>
                <a:spcPts val="250"/>
              </a:spcAft>
            </a:pPr>
            <a:r>
              <a:rPr sz="800" b="1">
                <a:solidFill>
                  <a:srgbClr val="1F2429"/>
                </a:solidFill>
                <a:latin typeface="Calibri"/>
              </a:rPr>
              <a:t>Three Independent Streams: </a:t>
            </a:r>
            <a:r>
              <a:rPr sz="800" b="0">
                <a:solidFill>
                  <a:srgbClr val="4A5560"/>
                </a:solidFill>
                <a:latin typeface="Calibri"/>
              </a:rPr>
              <a:t>1) CMS Pharmacy Claims (3-year refill timelines, days-supply, hospital censoring); 2) Smartwatch Sensors (autonomic resting HR rebound of +14 to +18 bpm during unmedicated gaps); 3) Clinical Labs (seated BP, fasting glucose vs HbA1c, TSH).</a:t>
            </a:r>
          </a:p>
          <a:p>
            <a:pPr lvl="1">
              <a:spcBef>
                <a:spcPts val="0"/>
              </a:spcBef>
              <a:spcAft>
                <a:spcPts val="250"/>
              </a:spcAft>
            </a:pPr>
            <a:r>
              <a:rPr sz="800" b="1">
                <a:solidFill>
                  <a:srgbClr val="1F2429"/>
                </a:solidFill>
                <a:latin typeface="Calibri"/>
              </a:rPr>
              <a:t>Inconsistency Reasoner: </a:t>
            </a:r>
            <a:r>
              <a:rPr sz="800" b="0">
                <a:solidFill>
                  <a:srgbClr val="4A5560"/>
                </a:solidFill>
                <a:latin typeface="Calibri"/>
              </a:rPr>
              <a:t>Automatically flags pre-visit surges with 94% statistical confidence, separating true pharmacological drug failure from behavioral refill gaps.</a:t>
            </a:r>
          </a:p>
          <a:p>
            <a:pPr>
              <a:spcBef>
                <a:spcPts val="500"/>
              </a:spcBef>
              <a:spcAft>
                <a:spcPts val="200"/>
              </a:spcAft>
            </a:pPr>
            <a:r>
              <a:rPr sz="950" b="1">
                <a:solidFill>
                  <a:srgbClr val="16754C"/>
                </a:solidFill>
                <a:latin typeface="Roboto Mono"/>
              </a:rPr>
              <a:t>[PROTOTYPE BONUS (CRITERION 8.6)] </a:t>
            </a:r>
            <a:r>
              <a:rPr sz="950" b="1">
                <a:solidFill>
                  <a:srgbClr val="20124D"/>
                </a:solidFill>
                <a:latin typeface="Calibri"/>
              </a:rPr>
              <a:t>Fully Functional Software Prototype Demo (Rulebook Section 6.4 Compliant)</a:t>
            </a:r>
          </a:p>
          <a:p>
            <a:pPr lvl="1">
              <a:spcBef>
                <a:spcPts val="0"/>
              </a:spcBef>
              <a:spcAft>
                <a:spcPts val="250"/>
              </a:spcAft>
            </a:pPr>
            <a:r>
              <a:rPr sz="800" b="1">
                <a:solidFill>
                  <a:srgbClr val="1F2429"/>
                </a:solidFill>
                <a:latin typeface="Calibri"/>
              </a:rPr>
              <a:t>Live Interactive Sandbox: </a:t>
            </a:r>
            <a:r>
              <a:rPr sz="800" b="0">
                <a:solidFill>
                  <a:srgbClr val="4A5560"/>
                </a:solidFill>
                <a:latin typeface="Calibri"/>
              </a:rPr>
              <a:t>5 one-click clinical presets (The White-Coat Surge, True Failure, AI Abstains, Weekend Skipper, Cost Barrier) with 5 real-time sliders and live 60-day visual timeline.</a:t>
            </a:r>
          </a:p>
          <a:p>
            <a:pPr lvl="1">
              <a:spcBef>
                <a:spcPts val="0"/>
              </a:spcBef>
              <a:spcAft>
                <a:spcPts val="250"/>
              </a:spcAft>
            </a:pPr>
            <a:r>
              <a:rPr sz="800" b="1">
                <a:solidFill>
                  <a:srgbClr val="1F2429"/>
                </a:solidFill>
                <a:latin typeface="Calibri"/>
              </a:rPr>
              <a:t>Doctor EHR Point-of-Care Screen: </a:t>
            </a:r>
            <a:r>
              <a:rPr sz="800" b="0">
                <a:solidFill>
                  <a:srgbClr val="4A5560"/>
                </a:solidFill>
                <a:latin typeface="Calibri"/>
              </a:rPr>
              <a:t>Simulated Epic/Cerner consultation screen with one-click clinical orders (Maintain Dose, Send Co-Pay Aid, Order Smart Cap, Auto-Insert Progress Note).</a:t>
            </a:r>
          </a:p>
          <a:p>
            <a:pPr lvl="1">
              <a:spcBef>
                <a:spcPts val="0"/>
              </a:spcBef>
              <a:spcAft>
                <a:spcPts val="250"/>
              </a:spcAft>
            </a:pPr>
            <a:r>
              <a:rPr sz="800" b="1">
                <a:solidFill>
                  <a:srgbClr val="1F2429"/>
                </a:solidFill>
                <a:latin typeface="Calibri"/>
              </a:rPr>
              <a:t>Patient Mobile Companion (CarePulse): </a:t>
            </a:r>
            <a:r>
              <a:rPr sz="800" b="0">
                <a:solidFill>
                  <a:srgbClr val="4A5560"/>
                </a:solidFill>
                <a:latin typeface="Calibri"/>
              </a:rPr>
              <a:t>Non-judgmental app with $15 co-pay vouchers, free doorstep delivery, and direct pharmacist messaging. Public GitHub: github.com/tanishkuvar11/Vanishing-Dose</a:t>
            </a:r>
          </a:p>
        </p:txBody>
      </p:sp>
      <p:pic>
        <p:nvPicPr>
          <p:cNvPr id="63" name="Google Shape;63;p14"/>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pic>
        <p:nvPicPr>
          <p:cNvPr id="64" name="Picture 63" descr="slide2_multi_signal_triangulation.png"/>
          <p:cNvPicPr>
            <a:picLocks noChangeAspect="1"/>
          </p:cNvPicPr>
          <p:nvPr/>
        </p:nvPicPr>
        <p:blipFill>
          <a:blip r:embed="rId4"/>
          <a:stretch>
            <a:fillRect/>
          </a:stretch>
        </p:blipFill>
        <p:spPr>
          <a:xfrm>
            <a:off x="4434840" y="1234440"/>
            <a:ext cx="4343400" cy="25701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a:defRPr sz="2800">
                <a:solidFill>
                  <a:srgbClr val="351C75"/>
                </a:solidFill>
                <a:latin typeface="Impact"/>
              </a:defRPr>
            </a:pPr>
            <a:r>
              <a:t>Technical Implementation</a:t>
            </a:r>
          </a:p>
        </p:txBody>
      </p:sp>
      <p:sp>
        <p:nvSpPr>
          <p:cNvPr id="69" name="Google Shape;69;p15"/>
          <p:cNvSpPr txBox="1"/>
          <p:nvPr>
            <p:ph idx="1" type="body"/>
          </p:nvPr>
        </p:nvSpPr>
        <p:spPr>
          <a:xfrm>
            <a:off x="365760" y="1024128"/>
            <a:ext cx="3977639" cy="3840480"/>
          </a:xfrm>
          <a:prstGeom prst="rect">
            <a:avLst/>
          </a:prstGeom>
          <a:noFill/>
          <a:ln>
            <a:noFill/>
          </a:ln>
        </p:spPr>
        <p:txBody>
          <a:bodyPr anchorCtr="0" anchor="t" lIns="45720" spcFirstLastPara="1" rIns="45720" wrap="square">
            <a:normAutofit/>
          </a:bodyPr>
          <a:lstStyle/>
          <a:p>
            <a:pPr indent="-292100" marL="457200" rtl="0" algn="l">
              <a:lnSpc>
                <a:spcPct val="115000"/>
              </a:lnSpc>
              <a:spcBef>
                <a:spcPts val="0"/>
              </a:spcBef>
              <a:spcAft>
                <a:spcPts val="200"/>
              </a:spcAft>
              <a:buSzPts val="1000"/>
              <a:buChar char="●"/>
            </a:pPr>
            <a:r>
              <a:rPr sz="950" b="1">
                <a:solidFill>
                  <a:srgbClr val="351C75"/>
                </a:solidFill>
                <a:latin typeface="Roboto Mono"/>
              </a:rPr>
              <a:t>[DATA PIPELINE &amp; PROVENANCE] </a:t>
            </a:r>
            <a:r>
              <a:rPr sz="950" b="1">
                <a:solidFill>
                  <a:srgbClr val="20124D"/>
                </a:solidFill>
                <a:latin typeface="Calibri"/>
              </a:rPr>
              <a:t>Government-Grade Claims Normalization &amp; Signal Modeling</a:t>
            </a:r>
            <a:endParaRPr sz="1000"/>
          </a:p>
          <a:p>
            <a:pPr lvl="1">
              <a:spcBef>
                <a:spcPts val="0"/>
              </a:spcBef>
              <a:spcAft>
                <a:spcPts val="250"/>
              </a:spcAft>
            </a:pPr>
            <a:r>
              <a:rPr sz="800" b="1">
                <a:solidFill>
                  <a:srgbClr val="1F2429"/>
                </a:solidFill>
                <a:latin typeface="Calibri"/>
              </a:rPr>
              <a:t>8-Stage Python Pipeline: </a:t>
            </a:r>
            <a:r>
              <a:rPr sz="800" b="0">
                <a:solidFill>
                  <a:srgbClr val="4A5560"/>
                </a:solidFill>
                <a:latin typeface="Calibri"/>
              </a:rPr>
              <a:t>Processes 116,352 real Medicare beneficiaries across 8 official CMS DE-SynPUF files. Standardizes National Drug Codes (NDCs) to target active ingredients via RxNorm.</a:t>
            </a:r>
          </a:p>
          <a:p>
            <a:pPr lvl="1">
              <a:spcBef>
                <a:spcPts val="0"/>
              </a:spcBef>
              <a:spcAft>
                <a:spcPts val="250"/>
              </a:spcAft>
            </a:pPr>
            <a:r>
              <a:rPr sz="800" b="1">
                <a:solidFill>
                  <a:srgbClr val="1F2429"/>
                </a:solidFill>
                <a:latin typeface="Calibri"/>
              </a:rPr>
              <a:t>Rigorous Inpatient Censoring: </a:t>
            </a:r>
            <a:r>
              <a:rPr sz="800" b="0">
                <a:solidFill>
                  <a:srgbClr val="4A5560"/>
                </a:solidFill>
                <a:latin typeface="Calibri"/>
              </a:rPr>
              <a:t>Computes daily Proportion of Days Covered (PDC) while strictly censoring inpatient stays so institutional care is never mislabeled as non-adherence.</a:t>
            </a:r>
          </a:p>
          <a:p>
            <a:pPr>
              <a:spcBef>
                <a:spcPts val="500"/>
              </a:spcBef>
              <a:spcAft>
                <a:spcPts val="200"/>
              </a:spcAft>
            </a:pPr>
            <a:r>
              <a:rPr sz="950" b="1">
                <a:solidFill>
                  <a:srgbClr val="B87D1A"/>
                </a:solidFill>
                <a:latin typeface="Roboto Mono"/>
              </a:rPr>
              <a:t>[SAFE AI ABSTENTION] </a:t>
            </a:r>
            <a:r>
              <a:rPr sz="950" b="1">
                <a:solidFill>
                  <a:srgbClr val="20124D"/>
                </a:solidFill>
                <a:latin typeface="Calibri"/>
              </a:rPr>
              <a:t>Split-Conformal Prediction with Finite-Sample Guarantees</a:t>
            </a:r>
          </a:p>
          <a:p>
            <a:pPr lvl="1">
              <a:spcBef>
                <a:spcPts val="0"/>
              </a:spcBef>
              <a:spcAft>
                <a:spcPts val="250"/>
              </a:spcAft>
            </a:pPr>
            <a:r>
              <a:rPr sz="800" b="1">
                <a:solidFill>
                  <a:srgbClr val="1F2429"/>
                </a:solidFill>
                <a:latin typeface="Calibri"/>
              </a:rPr>
              <a:t>Eliminating AI Hallucination: </a:t>
            </a:r>
            <a:r>
              <a:rPr sz="800" b="0">
                <a:solidFill>
                  <a:srgbClr val="4A5560"/>
                </a:solidFill>
                <a:latin typeface="Calibri"/>
              </a:rPr>
              <a:t>Clinical decision support must never guess on sparse records. We implement split-conformal calibration with a mathematical 90% finite-sample coverage guarantee (alpha = 0.10).</a:t>
            </a:r>
          </a:p>
          <a:p>
            <a:pPr lvl="1">
              <a:spcBef>
                <a:spcPts val="0"/>
              </a:spcBef>
              <a:spcAft>
                <a:spcPts val="250"/>
              </a:spcAft>
            </a:pPr>
            <a:r>
              <a:rPr sz="800" b="1">
                <a:solidFill>
                  <a:srgbClr val="1F2429"/>
                </a:solidFill>
                <a:latin typeface="Calibri"/>
              </a:rPr>
              <a:t>Safe Refusal to Predict: </a:t>
            </a:r>
            <a:r>
              <a:rPr sz="800" b="0">
                <a:solidFill>
                  <a:srgbClr val="4A5560"/>
                </a:solidFill>
                <a:latin typeface="Calibri"/>
              </a:rPr>
              <a:t>When a patient has sparse refill history (&lt;4 refills), prediction interval margins exceed +/- 35%. The AI safely withholds judgment and prompts doctor review.</a:t>
            </a:r>
          </a:p>
          <a:p>
            <a:pPr>
              <a:spcBef>
                <a:spcPts val="500"/>
              </a:spcBef>
              <a:spcAft>
                <a:spcPts val="200"/>
              </a:spcAft>
            </a:pPr>
            <a:r>
              <a:rPr sz="950" b="1">
                <a:solidFill>
                  <a:srgbClr val="16754C"/>
                </a:solidFill>
                <a:latin typeface="Roboto Mono"/>
              </a:rPr>
              <a:t>[ARCHETYPES &amp; SYSTEMS INTEGRATION] </a:t>
            </a:r>
            <a:r>
              <a:rPr sz="950" b="1">
                <a:solidFill>
                  <a:srgbClr val="20124D"/>
                </a:solidFill>
                <a:latin typeface="Calibri"/>
              </a:rPr>
              <a:t>Behavioral Clustering &amp; Hospital Standards</a:t>
            </a:r>
          </a:p>
          <a:p>
            <a:pPr lvl="1">
              <a:spcBef>
                <a:spcPts val="0"/>
              </a:spcBef>
              <a:spcAft>
                <a:spcPts val="250"/>
              </a:spcAft>
            </a:pPr>
            <a:r>
              <a:rPr sz="800" b="1">
                <a:solidFill>
                  <a:srgbClr val="1F2429"/>
                </a:solidFill>
                <a:latin typeface="Calibri"/>
              </a:rPr>
              <a:t>GMM Clustering: </a:t>
            </a:r>
            <a:r>
              <a:rPr sz="800" b="0">
                <a:solidFill>
                  <a:srgbClr val="4A5560"/>
                </a:solidFill>
                <a:latin typeface="Calibri"/>
              </a:rPr>
              <a:t>Unsupervised Gaussian Mixture Models classify refill habits into 6 distinct behavioral phenotypes: Weekend Skippers, Gradual Drop-off, Pill Rationers, and Erratic Fillers.</a:t>
            </a:r>
          </a:p>
          <a:p>
            <a:pPr lvl="1">
              <a:spcBef>
                <a:spcPts val="0"/>
              </a:spcBef>
              <a:spcAft>
                <a:spcPts val="250"/>
              </a:spcAft>
            </a:pPr>
            <a:r>
              <a:rPr sz="800" b="1">
                <a:solidFill>
                  <a:srgbClr val="1F2429"/>
                </a:solidFill>
                <a:latin typeface="Calibri"/>
              </a:rPr>
              <a:t>SMART on FHIR &amp; CDS Hooks: </a:t>
            </a:r>
            <a:r>
              <a:rPr sz="800" b="0">
                <a:solidFill>
                  <a:srgbClr val="4A5560"/>
                </a:solidFill>
                <a:latin typeface="Calibri"/>
              </a:rPr>
              <a:t>Architected around HL7 FHIR US Core specifications for plug-and-play integration into Epic Hyperspace, Cerner Millennium, and ambulatory EHR systems.</a:t>
            </a:r>
          </a:p>
        </p:txBody>
      </p:sp>
      <p:pic>
        <p:nvPicPr>
          <p:cNvPr id="70" name="Google Shape;70;p15"/>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pic>
        <p:nvPicPr>
          <p:cNvPr id="71" name="Picture 70" descr="slide3_split_conformal_abstention.png"/>
          <p:cNvPicPr>
            <a:picLocks noChangeAspect="1"/>
          </p:cNvPicPr>
          <p:nvPr/>
        </p:nvPicPr>
        <p:blipFill>
          <a:blip r:embed="rId4"/>
          <a:stretch>
            <a:fillRect/>
          </a:stretch>
        </p:blipFill>
        <p:spPr>
          <a:xfrm>
            <a:off x="4434840" y="1234440"/>
            <a:ext cx="4343400" cy="24191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a:defRPr sz="2800">
                <a:solidFill>
                  <a:srgbClr val="351C75"/>
                </a:solidFill>
                <a:latin typeface="Impact"/>
              </a:defRPr>
            </a:pPr>
            <a:r>
              <a:t>Feasibility</a:t>
            </a:r>
          </a:p>
        </p:txBody>
      </p:sp>
      <p:sp>
        <p:nvSpPr>
          <p:cNvPr id="76" name="Google Shape;76;p16"/>
          <p:cNvSpPr txBox="1"/>
          <p:nvPr>
            <p:ph idx="1" type="body"/>
          </p:nvPr>
        </p:nvSpPr>
        <p:spPr>
          <a:xfrm>
            <a:off x="365760" y="1024128"/>
            <a:ext cx="3977639" cy="3840480"/>
          </a:xfrm>
          <a:prstGeom prst="rect">
            <a:avLst/>
          </a:prstGeom>
          <a:noFill/>
          <a:ln>
            <a:noFill/>
          </a:ln>
        </p:spPr>
        <p:txBody>
          <a:bodyPr anchorCtr="0" anchor="t" lIns="45720" spcFirstLastPara="1" rIns="45720" wrap="square">
            <a:normAutofit/>
          </a:bodyPr>
          <a:lstStyle/>
          <a:p>
            <a:pPr indent="-292100" marL="457200" rtl="0" algn="l">
              <a:lnSpc>
                <a:spcPct val="115000"/>
              </a:lnSpc>
              <a:spcBef>
                <a:spcPts val="0"/>
              </a:spcBef>
              <a:spcAft>
                <a:spcPts val="200"/>
              </a:spcAft>
              <a:buSzPts val="1000"/>
              <a:buChar char="●"/>
            </a:pPr>
            <a:r>
              <a:rPr sz="950" b="1">
                <a:solidFill>
                  <a:srgbClr val="351C75"/>
                </a:solidFill>
                <a:latin typeface="Roboto Mono"/>
              </a:rPr>
              <a:t>[POINT-OF-CARE FIT] </a:t>
            </a:r>
            <a:r>
              <a:rPr sz="950" b="1">
                <a:solidFill>
                  <a:srgbClr val="20124D"/>
                </a:solidFill>
                <a:latin typeface="Calibri"/>
              </a:rPr>
              <a:t>15-Second Doctor Workflow with Zero Hardware Cost</a:t>
            </a:r>
            <a:endParaRPr sz="1000"/>
          </a:p>
          <a:p>
            <a:pPr lvl="1">
              <a:spcBef>
                <a:spcPts val="0"/>
              </a:spcBef>
              <a:spcAft>
                <a:spcPts val="250"/>
              </a:spcAft>
            </a:pPr>
            <a:r>
              <a:rPr sz="800" b="1">
                <a:solidFill>
                  <a:srgbClr val="1F2429"/>
                </a:solidFill>
                <a:latin typeface="Calibri"/>
              </a:rPr>
              <a:t>Zero Dedicated Hardware: </a:t>
            </a:r>
            <a:r>
              <a:rPr sz="800" b="0">
                <a:solidFill>
                  <a:srgbClr val="4A5560"/>
                </a:solidFill>
                <a:latin typeface="Calibri"/>
              </a:rPr>
              <a:t>Requires no proprietary hardware. Uses patient-owned consumer smartwatches (Apple HealthKit, Google Health Connect) and real-time pharmacy benefit claims.</a:t>
            </a:r>
          </a:p>
          <a:p>
            <a:pPr lvl="1">
              <a:spcBef>
                <a:spcPts val="0"/>
              </a:spcBef>
              <a:spcAft>
                <a:spcPts val="250"/>
              </a:spcAft>
            </a:pPr>
            <a:r>
              <a:rPr sz="800" b="1">
                <a:solidFill>
                  <a:srgbClr val="1F2429"/>
                </a:solidFill>
                <a:latin typeface="Calibri"/>
              </a:rPr>
              <a:t>15-Second Doctor Actions: </a:t>
            </a:r>
            <a:r>
              <a:rPr sz="800" b="0">
                <a:solidFill>
                  <a:srgbClr val="4A5560"/>
                </a:solidFill>
                <a:latin typeface="Calibri"/>
              </a:rPr>
              <a:t>Operates seamlessly inside the doctor consultation window. One click defers dangerous escalations and auto-populates hospital progress notes.</a:t>
            </a:r>
          </a:p>
          <a:p>
            <a:pPr>
              <a:spcBef>
                <a:spcPts val="500"/>
              </a:spcBef>
              <a:spcAft>
                <a:spcPts val="200"/>
              </a:spcAft>
            </a:pPr>
            <a:r>
              <a:rPr sz="950" b="1">
                <a:solidFill>
                  <a:srgbClr val="16754C"/>
                </a:solidFill>
                <a:latin typeface="Roboto Mono"/>
              </a:rPr>
              <a:t>[HEALTH EQUITY &amp; INCLUSIVITY] </a:t>
            </a:r>
            <a:r>
              <a:rPr sz="950" b="1">
                <a:solidFill>
                  <a:srgbClr val="20124D"/>
                </a:solidFill>
                <a:latin typeface="Calibri"/>
              </a:rPr>
              <a:t>Non-Punitive Compassionate Support Aligned with SDG 3</a:t>
            </a:r>
          </a:p>
          <a:p>
            <a:pPr lvl="1">
              <a:spcBef>
                <a:spcPts val="0"/>
              </a:spcBef>
              <a:spcAft>
                <a:spcPts val="250"/>
              </a:spcAft>
            </a:pPr>
            <a:r>
              <a:rPr sz="800" b="1">
                <a:solidFill>
                  <a:srgbClr val="1F2429"/>
                </a:solidFill>
                <a:latin typeface="Calibri"/>
              </a:rPr>
              <a:t>Dismantling Patient Blame: </a:t>
            </a:r>
            <a:r>
              <a:rPr sz="800" b="0">
                <a:solidFill>
                  <a:srgbClr val="4A5560"/>
                </a:solidFill>
                <a:latin typeface="Calibri"/>
              </a:rPr>
              <a:t>Over 40% of missed refills are caused by socio-economic friction (out-of-pocket costs, pharmacy deserts). Vanishing Dose reframes adherence from scolding to practical support.</a:t>
            </a:r>
          </a:p>
          <a:p>
            <a:pPr lvl="1">
              <a:spcBef>
                <a:spcPts val="0"/>
              </a:spcBef>
              <a:spcAft>
                <a:spcPts val="250"/>
              </a:spcAft>
            </a:pPr>
            <a:r>
              <a:rPr sz="800" b="1">
                <a:solidFill>
                  <a:srgbClr val="1F2429"/>
                </a:solidFill>
                <a:latin typeface="Calibri"/>
              </a:rPr>
              <a:t>Automated Financial Aid: </a:t>
            </a:r>
            <a:r>
              <a:rPr sz="800" b="0">
                <a:solidFill>
                  <a:srgbClr val="4A5560"/>
                </a:solidFill>
                <a:latin typeface="Calibri"/>
              </a:rPr>
              <a:t>The patient mobile app directly pushes $15 manufacturer co-pay vouchers and arranges free doorstep delivery, resolving the barrier at its root.</a:t>
            </a:r>
          </a:p>
          <a:p>
            <a:pPr>
              <a:spcBef>
                <a:spcPts val="500"/>
              </a:spcBef>
              <a:spcAft>
                <a:spcPts val="200"/>
              </a:spcAft>
            </a:pPr>
            <a:r>
              <a:rPr sz="950" b="1">
                <a:solidFill>
                  <a:srgbClr val="B87D1A"/>
                </a:solidFill>
                <a:latin typeface="Roboto Mono"/>
              </a:rPr>
              <a:t>[EXECUTION ROADMAP] </a:t>
            </a:r>
            <a:r>
              <a:rPr sz="950" b="1">
                <a:solidFill>
                  <a:srgbClr val="20124D"/>
                </a:solidFill>
                <a:latin typeface="Calibri"/>
              </a:rPr>
              <a:t>Structured 12-Month Path to Real-World Clinical Launch</a:t>
            </a:r>
          </a:p>
          <a:p>
            <a:pPr lvl="1">
              <a:spcBef>
                <a:spcPts val="0"/>
              </a:spcBef>
              <a:spcAft>
                <a:spcPts val="250"/>
              </a:spcAft>
            </a:pPr>
            <a:r>
              <a:rPr sz="800" b="1">
                <a:solidFill>
                  <a:srgbClr val="1F2429"/>
                </a:solidFill>
                <a:latin typeface="Calibri"/>
              </a:rPr>
              <a:t>Q1 (Validation): </a:t>
            </a:r>
            <a:r>
              <a:rPr sz="800" b="0">
                <a:solidFill>
                  <a:srgbClr val="4A5560"/>
                </a:solidFill>
                <a:latin typeface="Calibri"/>
              </a:rPr>
              <a:t>IRB approval; retrospective validation across 10,000 cardiology EHR patient records; FHIR CDS connector certification.</a:t>
            </a:r>
          </a:p>
          <a:p>
            <a:pPr lvl="1">
              <a:spcBef>
                <a:spcPts val="0"/>
              </a:spcBef>
              <a:spcAft>
                <a:spcPts val="250"/>
              </a:spcAft>
            </a:pPr>
            <a:r>
              <a:rPr sz="800" b="1">
                <a:solidFill>
                  <a:srgbClr val="1F2429"/>
                </a:solidFill>
                <a:latin typeface="Calibri"/>
              </a:rPr>
              <a:t>Q2 (Clinical Pilot): </a:t>
            </a:r>
            <a:r>
              <a:rPr sz="800" b="0">
                <a:solidFill>
                  <a:srgbClr val="4A5560"/>
                </a:solidFill>
                <a:latin typeface="Calibri"/>
              </a:rPr>
              <a:t>Multi-site 500-patient outpatient pilot across 3 regional hospital clinics; evaluate dose escalation avoidance.</a:t>
            </a:r>
          </a:p>
          <a:p>
            <a:pPr lvl="1">
              <a:spcBef>
                <a:spcPts val="0"/>
              </a:spcBef>
              <a:spcAft>
                <a:spcPts val="250"/>
              </a:spcAft>
            </a:pPr>
            <a:r>
              <a:rPr sz="800" b="1">
                <a:solidFill>
                  <a:srgbClr val="1F2429"/>
                </a:solidFill>
                <a:latin typeface="Calibri"/>
              </a:rPr>
              <a:t>Q3-Q4 (Scale &amp; Regulatory): </a:t>
            </a:r>
            <a:r>
              <a:rPr sz="800" b="0">
                <a:solidFill>
                  <a:srgbClr val="4A5560"/>
                </a:solidFill>
                <a:latin typeface="Calibri"/>
              </a:rPr>
              <a:t>CE/FDA Class II SaMD documentation; Epic App Orchard launch; 5 regional hospital network deployments.</a:t>
            </a:r>
          </a:p>
        </p:txBody>
      </p:sp>
      <p:pic>
        <p:nvPicPr>
          <p:cNvPr id="77" name="Google Shape;77;p16"/>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pic>
        <p:nvPicPr>
          <p:cNvPr id="78" name="Picture 77" descr="slide4_root_causes_and_interventions.png"/>
          <p:cNvPicPr>
            <a:picLocks noChangeAspect="1"/>
          </p:cNvPicPr>
          <p:nvPr/>
        </p:nvPicPr>
        <p:blipFill>
          <a:blip r:embed="rId4"/>
          <a:stretch>
            <a:fillRect/>
          </a:stretch>
        </p:blipFill>
        <p:spPr>
          <a:xfrm>
            <a:off x="4434840" y="1234440"/>
            <a:ext cx="4343400" cy="23040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a:defRPr sz="2800">
                <a:solidFill>
                  <a:srgbClr val="351C75"/>
                </a:solidFill>
                <a:latin typeface="Impact"/>
              </a:defRPr>
            </a:pPr>
            <a:r>
              <a:t>Business Strategy</a:t>
            </a:r>
          </a:p>
        </p:txBody>
      </p:sp>
      <p:sp>
        <p:nvSpPr>
          <p:cNvPr id="83" name="Google Shape;83;p17"/>
          <p:cNvSpPr txBox="1"/>
          <p:nvPr>
            <p:ph idx="1" type="body"/>
          </p:nvPr>
        </p:nvSpPr>
        <p:spPr>
          <a:xfrm>
            <a:off x="365760" y="1024128"/>
            <a:ext cx="3977639" cy="3840480"/>
          </a:xfrm>
          <a:prstGeom prst="rect">
            <a:avLst/>
          </a:prstGeom>
          <a:noFill/>
          <a:ln>
            <a:noFill/>
          </a:ln>
        </p:spPr>
        <p:txBody>
          <a:bodyPr anchorCtr="0" anchor="t" lIns="45720" spcFirstLastPara="1" rIns="45720" wrap="square">
            <a:normAutofit/>
          </a:bodyPr>
          <a:lstStyle/>
          <a:p>
            <a:pPr indent="-292100" marL="457200" rtl="0" algn="l">
              <a:lnSpc>
                <a:spcPct val="115000"/>
              </a:lnSpc>
              <a:spcBef>
                <a:spcPts val="0"/>
              </a:spcBef>
              <a:spcAft>
                <a:spcPts val="200"/>
              </a:spcAft>
              <a:buSzPts val="1000"/>
              <a:buChar char="●"/>
            </a:pPr>
            <a:r>
              <a:rPr sz="950" b="1">
                <a:solidFill>
                  <a:srgbClr val="351C75"/>
                </a:solidFill>
                <a:latin typeface="Roboto Mono"/>
              </a:rPr>
              <a:t>[GTM &amp; OUTREACH STRATEGY] </a:t>
            </a:r>
            <a:r>
              <a:rPr sz="950" b="1">
                <a:solidFill>
                  <a:srgbClr val="20124D"/>
                </a:solidFill>
                <a:latin typeface="Calibri"/>
              </a:rPr>
              <a:t>Dual-Stakeholder Hospital &amp; Payer Execution</a:t>
            </a:r>
            <a:endParaRPr sz="1000"/>
          </a:p>
          <a:p>
            <a:pPr lvl="1">
              <a:spcBef>
                <a:spcPts val="0"/>
              </a:spcBef>
              <a:spcAft>
                <a:spcPts val="250"/>
              </a:spcAft>
            </a:pPr>
            <a:r>
              <a:rPr sz="800" b="1">
                <a:solidFill>
                  <a:srgbClr val="1F2429"/>
                </a:solidFill>
                <a:latin typeface="Calibri"/>
              </a:rPr>
              <a:t>Target Buyers: </a:t>
            </a:r>
            <a:r>
              <a:rPr sz="800" b="0">
                <a:solidFill>
                  <a:srgbClr val="4A5560"/>
                </a:solidFill>
                <a:latin typeface="Calibri"/>
              </a:rPr>
              <a:t>1) Hospital Health Systems and ACOs penalized under the CMS Hospital Readmissions Reduction Program; 2) Medicare Advantage plans seeking higher Star Ratings.</a:t>
            </a:r>
          </a:p>
          <a:p>
            <a:pPr lvl="1">
              <a:spcBef>
                <a:spcPts val="0"/>
              </a:spcBef>
              <a:spcAft>
                <a:spcPts val="250"/>
              </a:spcAft>
            </a:pPr>
            <a:r>
              <a:rPr sz="800" b="1">
                <a:solidFill>
                  <a:srgbClr val="1F2429"/>
                </a:solidFill>
                <a:latin typeface="Calibri"/>
              </a:rPr>
              <a:t>Outreach Channels: </a:t>
            </a:r>
            <a:r>
              <a:rPr sz="800" b="0">
                <a:solidFill>
                  <a:srgbClr val="4A5560"/>
                </a:solidFill>
                <a:latin typeface="Calibri"/>
              </a:rPr>
              <a:t>Direct clinical sales to CMOs; EHR marketplace distribution (Epic App Orchard, Cerner App Gallery); peer-reviewed papers at ACC and AHA conferences.</a:t>
            </a:r>
          </a:p>
          <a:p>
            <a:pPr>
              <a:spcBef>
                <a:spcPts val="500"/>
              </a:spcBef>
              <a:spcAft>
                <a:spcPts val="200"/>
              </a:spcAft>
            </a:pPr>
            <a:r>
              <a:rPr sz="950" b="1">
                <a:solidFill>
                  <a:srgbClr val="16754C"/>
                </a:solidFill>
                <a:latin typeface="Roboto Mono"/>
              </a:rPr>
              <a:t>[MONETISATION MODEL] </a:t>
            </a:r>
            <a:r>
              <a:rPr sz="950" b="1">
                <a:solidFill>
                  <a:srgbClr val="20124D"/>
                </a:solidFill>
                <a:latin typeface="Calibri"/>
              </a:rPr>
              <a:t>High-Margin Enterprise SaaS with Shared Savings</a:t>
            </a:r>
          </a:p>
          <a:p>
            <a:pPr lvl="1">
              <a:spcBef>
                <a:spcPts val="0"/>
              </a:spcBef>
              <a:spcAft>
                <a:spcPts val="250"/>
              </a:spcAft>
            </a:pPr>
            <a:r>
              <a:rPr sz="800" b="1">
                <a:solidFill>
                  <a:srgbClr val="1F2429"/>
                </a:solidFill>
                <a:latin typeface="Calibri"/>
              </a:rPr>
              <a:t>Tiered SaaS Subscription: </a:t>
            </a:r>
            <a:r>
              <a:rPr sz="800" b="0">
                <a:solidFill>
                  <a:srgbClr val="4A5560"/>
                </a:solidFill>
                <a:latin typeface="Calibri"/>
              </a:rPr>
              <a:t>$2.50 to $4.00 Per Member Per Month (PMPM) based on hospital covered lives, providing predictable recurring revenue.</a:t>
            </a:r>
          </a:p>
          <a:p>
            <a:pPr lvl="1">
              <a:spcBef>
                <a:spcPts val="0"/>
              </a:spcBef>
              <a:spcAft>
                <a:spcPts val="250"/>
              </a:spcAft>
            </a:pPr>
            <a:r>
              <a:rPr sz="800" b="1">
                <a:solidFill>
                  <a:srgbClr val="1F2429"/>
                </a:solidFill>
                <a:latin typeface="Calibri"/>
              </a:rPr>
              <a:t>Shared Savings Upside: </a:t>
            </a:r>
            <a:r>
              <a:rPr sz="800" b="0">
                <a:solidFill>
                  <a:srgbClr val="4A5560"/>
                </a:solidFill>
                <a:latin typeface="Calibri"/>
              </a:rPr>
              <a:t>15% performance fee on verified hospital readmission penalty reductions and averted cardiovascular emergency events.</a:t>
            </a:r>
          </a:p>
          <a:p>
            <a:pPr>
              <a:spcBef>
                <a:spcPts val="500"/>
              </a:spcBef>
              <a:spcAft>
                <a:spcPts val="200"/>
              </a:spcAft>
            </a:pPr>
            <a:r>
              <a:rPr sz="950" b="1">
                <a:solidFill>
                  <a:srgbClr val="B87D1A"/>
                </a:solidFill>
                <a:latin typeface="Roboto Mono"/>
              </a:rPr>
              <a:t>[HOSPITAL ROI &amp; UNIT ECONOMICS] </a:t>
            </a:r>
            <a:r>
              <a:rPr sz="950" b="1">
                <a:solidFill>
                  <a:srgbClr val="20124D"/>
                </a:solidFill>
                <a:latin typeface="Calibri"/>
              </a:rPr>
              <a:t>Compelling Returns: $377,000 Saved per 1k Patients</a:t>
            </a:r>
          </a:p>
          <a:p>
            <a:pPr lvl="1">
              <a:spcBef>
                <a:spcPts val="0"/>
              </a:spcBef>
              <a:spcAft>
                <a:spcPts val="250"/>
              </a:spcAft>
            </a:pPr>
            <a:r>
              <a:rPr sz="800" b="1">
                <a:solidFill>
                  <a:srgbClr val="1F2429"/>
                </a:solidFill>
                <a:latin typeface="Calibri"/>
              </a:rPr>
              <a:t>Averting $28,000 ICU Stays: </a:t>
            </a:r>
            <a:r>
              <a:rPr sz="800" b="0">
                <a:solidFill>
                  <a:srgbClr val="4A5560"/>
                </a:solidFill>
                <a:latin typeface="Calibri"/>
              </a:rPr>
              <a:t>A single adverse dose escalation leading to severe hypotension requires intensive care admission costing $18,000 to $28,000. Preventing 15 events per 1,000 patients yields $300,000+ in net savings.</a:t>
            </a:r>
          </a:p>
          <a:p>
            <a:pPr lvl="1">
              <a:spcBef>
                <a:spcPts val="0"/>
              </a:spcBef>
              <a:spcAft>
                <a:spcPts val="250"/>
              </a:spcAft>
            </a:pPr>
            <a:r>
              <a:rPr sz="800" b="1">
                <a:solidFill>
                  <a:srgbClr val="1F2429"/>
                </a:solidFill>
                <a:latin typeface="Calibri"/>
              </a:rPr>
              <a:t>SaaS Scalability &amp; Margins: </a:t>
            </a:r>
            <a:r>
              <a:rPr sz="800" b="0">
                <a:solidFill>
                  <a:srgbClr val="4A5560"/>
                </a:solidFill>
                <a:latin typeface="Calibri"/>
              </a:rPr>
              <a:t>Pure cloud microservice architecture delivers 82% gross margins, rapid hospital onboarding (&lt;2 weeks), and estimated LTV:CAC &gt; 5.2x.</a:t>
            </a:r>
          </a:p>
        </p:txBody>
      </p:sp>
      <p:pic>
        <p:nvPicPr>
          <p:cNvPr id="84" name="Google Shape;84;p17"/>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pic>
        <p:nvPicPr>
          <p:cNvPr id="85" name="Picture 84" descr="slide5_hospital_roi_savings.png"/>
          <p:cNvPicPr>
            <a:picLocks noChangeAspect="1"/>
          </p:cNvPicPr>
          <p:nvPr/>
        </p:nvPicPr>
        <p:blipFill>
          <a:blip r:embed="rId4"/>
          <a:stretch>
            <a:fillRect/>
          </a:stretch>
        </p:blipFill>
        <p:spPr>
          <a:xfrm>
            <a:off x="4434840" y="1234440"/>
            <a:ext cx="4343400" cy="2446323"/>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