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548640"/>
            <a:ext cx="109728" cy="109728"/>
          </a:xfrm>
          <a:prstGeom prst="ellipse">
            <a:avLst/>
          </a:prstGeom>
          <a:solidFill>
            <a:srgbClr val="D9A441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1280160"/>
            <a:ext cx="64008" cy="64008"/>
          </a:xfrm>
          <a:prstGeom prst="ellipse">
            <a:avLst/>
          </a:prstGeom>
          <a:solidFill>
            <a:srgbClr val="D9A441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966960" y="1920240"/>
            <a:ext cx="146304" cy="146304"/>
          </a:xfrm>
          <a:prstGeom prst="ellipse">
            <a:avLst/>
          </a:prstGeom>
          <a:solidFill>
            <a:srgbClr val="D9A441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064240" y="822960"/>
            <a:ext cx="82296" cy="82296"/>
          </a:xfrm>
          <a:prstGeom prst="ellipse">
            <a:avLst/>
          </a:prstGeom>
          <a:solidFill>
            <a:srgbClr val="D9A441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698480" y="2377440"/>
            <a:ext cx="54864" cy="54864"/>
          </a:xfrm>
          <a:prstGeom prst="ellipse">
            <a:avLst/>
          </a:prstGeom>
          <a:solidFill>
            <a:srgbClr val="D9A441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418320" y="1554480"/>
            <a:ext cx="45720" cy="45720"/>
          </a:xfrm>
          <a:prstGeom prst="ellipse">
            <a:avLst/>
          </a:prstGeom>
          <a:solidFill>
            <a:srgbClr val="D9A441">
              <a:alpha val="1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338560" y="1737360"/>
            <a:ext cx="100584" cy="100584"/>
          </a:xfrm>
          <a:prstGeom prst="ellipse">
            <a:avLst/>
          </a:prstGeom>
          <a:solidFill>
            <a:srgbClr val="D9A441">
              <a:alpha val="1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052560" y="365760"/>
            <a:ext cx="64008" cy="64008"/>
          </a:xfrm>
          <a:prstGeom prst="ellipse">
            <a:avLst/>
          </a:prstGeom>
          <a:solidFill>
            <a:srgbClr val="D9A441">
              <a:alpha val="1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685800"/>
            <a:ext cx="3977640" cy="384048"/>
          </a:xfrm>
          <a:prstGeom prst="roundRect">
            <a:avLst>
              <a:gd name="adj" fmla="val 50000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6858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MANIPAL HACKATHON 2026  ·  HEALTHCARE TRACK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33172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Vanishing Dose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520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clinical evidence instrument for medication adherence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4224528"/>
            <a:ext cx="502920" cy="0"/>
          </a:xfrm>
          <a:prstGeom prst="line">
            <a:avLst/>
          </a:prstGeom>
          <a:noFill/>
          <a:ln w="31750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437083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FA0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Separating </a:t>
            </a:r>
            <a:pPr indent="0" marL="0">
              <a:buNone/>
            </a:pPr>
            <a:r>
              <a:rPr lang="en-US" sz="1900" i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drug isn’t working”</a:t>
            </a:r>
            <a:pPr indent="0" marL="0">
              <a:buNone/>
            </a:pPr>
            <a:r>
              <a:rPr lang="en-US" sz="1900" dirty="0">
                <a:solidFill>
                  <a:srgbClr val="8FA0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from </a:t>
            </a:r>
            <a:pPr indent="0" marL="0">
              <a:buNone/>
            </a:pPr>
            <a:r>
              <a:rPr lang="en-US" sz="1900" b="1" i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drug isn’t being taken.”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89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Medicare claims, wearable vitals, and clinical records. Built on real CMS data, honest about its limits.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E:\Hackathons\manipal-hackathon\vanishing-dose\deck_assets\icons\alert_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562356"/>
            <a:ext cx="338328" cy="338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62179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CLINICAL PROBLEM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05156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blood pressure stays high, the reflex</a:t>
            </a:r>
            <a:endParaRPr lang="en-US" sz="33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to </a:t>
            </a:r>
            <a:endParaRPr lang="en-US" sz="33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escalate the dose.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33172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real cause is missed doses, not treatment failure, escalation becomes dangerous the moment the patient resumes taking the drug as prescribed. Standard adherence metrics average this pattern away: a patient who refills faithfully only in the days before each visit looks perfectly controlled on paper, every time.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4343400"/>
            <a:ext cx="5212080" cy="1691640"/>
          </a:xfrm>
          <a:prstGeom prst="roundRect">
            <a:avLst>
              <a:gd name="adj" fmla="val 3784"/>
            </a:avLst>
          </a:prstGeom>
          <a:solidFill>
            <a:srgbClr val="161E25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45079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WHITE-COAT ADHERENCE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006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where medication is taken faithfully in the two weeks before a scheduled appointment, and inconsistently the rest of the time. Invisible to every visit-based check.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172200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CLINICAL DILEMMA, IN 30 SECONDS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72200" y="2651760"/>
            <a:ext cx="2606040" cy="2788920"/>
          </a:xfrm>
          <a:prstGeom prst="roundRect">
            <a:avLst>
              <a:gd name="adj" fmla="val 2105"/>
            </a:avLst>
          </a:prstGeom>
          <a:solidFill>
            <a:srgbClr val="161E25"/>
          </a:solidFill>
          <a:ln w="12700">
            <a:solidFill>
              <a:srgbClr val="E0637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26680" y="2788920"/>
            <a:ext cx="914400" cy="274320"/>
          </a:xfrm>
          <a:prstGeom prst="roundRect">
            <a:avLst>
              <a:gd name="adj" fmla="val 50000"/>
            </a:avLst>
          </a:prstGeom>
          <a:ln w="12700">
            <a:solidFill>
              <a:srgbClr val="E0637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26680" y="2788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63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risk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27889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E06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practice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3310128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visits the clinic with high blood pressure. The doctor assumes the current medication is too weak and doubles the prescription.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355080" y="42519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E06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hazard.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patient had missed doses for weeks, a double dose once they get home can trigger dangerous blood pressure drops, dizziness, or emergency room visits.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961120" y="2651760"/>
            <a:ext cx="2606040" cy="2788920"/>
          </a:xfrm>
          <a:prstGeom prst="roundRect">
            <a:avLst>
              <a:gd name="adj" fmla="val 2105"/>
            </a:avLst>
          </a:prstGeom>
          <a:solidFill>
            <a:srgbClr val="161E25"/>
          </a:solidFill>
          <a:ln w="12700">
            <a:solidFill>
              <a:srgbClr val="6FBF8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515600" y="2788920"/>
            <a:ext cx="914400" cy="274320"/>
          </a:xfrm>
          <a:prstGeom prst="roundRect">
            <a:avLst>
              <a:gd name="adj" fmla="val 50000"/>
            </a:avLst>
          </a:prstGeom>
          <a:ln w="12700">
            <a:solidFill>
              <a:srgbClr val="6FBF8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515600" y="2788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FB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Compassionate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9144000" y="27889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6FB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 Dose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9144000" y="3310128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flags an unmedicated 22-day gap, confirmed by an elevated resting heart rate on the patient's own wearable, then a rush to refill right before the visit.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0" y="42519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6FB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action.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do-not-escalate alert, plus supportive conversation questions that explore refill obstacles instead of assuming forgetfulness.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10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 DOSE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E:\Hackathons\manipal-hackathon\vanishing-dose\deck_assets\icons\grid_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562356"/>
            <a:ext cx="338328" cy="338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62179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05156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principles, not just an algorithm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916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design choice in Vanishing Dose answers to one of these, from the data pipeline up through the words that appear on screen.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514600"/>
            <a:ext cx="3429000" cy="3291840"/>
          </a:xfrm>
          <a:prstGeom prst="roundRect">
            <a:avLst>
              <a:gd name="adj" fmla="val 1944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32688" y="283464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9" name="Image 1" descr="E:\Hackathons\manipal-hackathon\vanishing-dose\deck_assets\icons\watch_grou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389" y="2908341"/>
            <a:ext cx="419527" cy="41952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46120" y="2788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430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932688" y="35661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Daily Signals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932688" y="4206240"/>
            <a:ext cx="2843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refill history, smartwatch resting heart rate, daily steps, and clinic vitals fold into one unified timeline, with no extra work for the patient.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2514600"/>
            <a:ext cx="3429000" cy="3291840"/>
          </a:xfrm>
          <a:prstGeom prst="roundRect">
            <a:avLst>
              <a:gd name="adj" fmla="val 1944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81728" y="283464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15" name="Image 2" descr="E:\Hackathons\manipal-hackathon\vanishing-dose\deck_assets\icons\heart_grou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5429" y="2908341"/>
            <a:ext cx="419527" cy="41952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95160" y="2788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430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4681728" y="35661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Compassionate by Design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681728" y="4206240"/>
            <a:ext cx="2843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ever assuming a patient simply forgot, the system checks for hospital stays, prescription switches, and pharmacy cost barriers.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38160" y="2514600"/>
            <a:ext cx="3429000" cy="3291840"/>
          </a:xfrm>
          <a:prstGeom prst="roundRect">
            <a:avLst>
              <a:gd name="adj" fmla="val 1944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430768" y="283464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21" name="Image 3" descr="E:\Hackathons\manipal-hackathon\vanishing-dose\deck_assets\icons\shield_grou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4469" y="2908341"/>
            <a:ext cx="419527" cy="41952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744200" y="2788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430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8430768" y="35661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Refuses to Guess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8430768" y="4206240"/>
            <a:ext cx="2843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confidence intervals, not point estimates. When there isn’t enough refill history, the tool says so plainly, rather than fabricating certainty.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10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 DOSE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E:\Hackathons\manipal-hackathon\vanishing-dose\deck_assets\icons\package_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516636"/>
            <a:ext cx="338328" cy="338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5760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 TOUR · 01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96012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instrument, three ways to look at the evidence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2679192" y="1691640"/>
            <a:ext cx="6803136" cy="4562856"/>
          </a:xfrm>
          <a:prstGeom prst="roundRect">
            <a:avLst>
              <a:gd name="adj" fmla="val 1804"/>
            </a:avLst>
          </a:prstGeom>
          <a:solidFill>
            <a:srgbClr val="0B0F13"/>
          </a:solidFill>
          <a:ln w="12700">
            <a:solidFill>
              <a:srgbClr val="24303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825496" y="1805940"/>
            <a:ext cx="82296" cy="82296"/>
          </a:xfrm>
          <a:prstGeom prst="ellipse">
            <a:avLst/>
          </a:prstGeom>
          <a:solidFill>
            <a:srgbClr val="E0637A"/>
          </a:solidFill>
          <a:ln/>
        </p:spPr>
      </p:sp>
      <p:sp>
        <p:nvSpPr>
          <p:cNvPr id="8" name="Shape 5"/>
          <p:cNvSpPr/>
          <p:nvPr/>
        </p:nvSpPr>
        <p:spPr>
          <a:xfrm>
            <a:off x="3008376" y="1805940"/>
            <a:ext cx="82296" cy="82296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9" name="Shape 6"/>
          <p:cNvSpPr/>
          <p:nvPr/>
        </p:nvSpPr>
        <p:spPr>
          <a:xfrm>
            <a:off x="3191256" y="1805940"/>
            <a:ext cx="82296" cy="82296"/>
          </a:xfrm>
          <a:prstGeom prst="ellipse">
            <a:avLst/>
          </a:prstGeom>
          <a:solidFill>
            <a:srgbClr val="6FBF8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19272" y="1719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vanishingdose.app</a:t>
            </a:r>
            <a:endParaRPr lang="en-US" sz="900" dirty="0"/>
          </a:p>
        </p:txBody>
      </p:sp>
      <p:pic>
        <p:nvPicPr>
          <p:cNvPr id="11" name="Image 1" descr="E:\Hackathons\manipal-hackathon\vanishing-dose\deck_assets\shot_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2002536"/>
            <a:ext cx="6766560" cy="42336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10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 DOSE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E:\Hackathons\manipal-hackathon\vanishing-dose\deck_assets\icons\activity_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516636"/>
            <a:ext cx="338328" cy="338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5760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 TOUR · 02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96012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2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diagnostic sandbox: the White-Coat Surge scenario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1078992" y="1874520"/>
            <a:ext cx="6437376" cy="4334256"/>
          </a:xfrm>
          <a:prstGeom prst="roundRect">
            <a:avLst>
              <a:gd name="adj" fmla="val 1899"/>
            </a:avLst>
          </a:prstGeom>
          <a:solidFill>
            <a:srgbClr val="0B0F13"/>
          </a:solidFill>
          <a:ln w="12700">
            <a:solidFill>
              <a:srgbClr val="24303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25296" y="1988820"/>
            <a:ext cx="82296" cy="82296"/>
          </a:xfrm>
          <a:prstGeom prst="ellipse">
            <a:avLst/>
          </a:prstGeom>
          <a:solidFill>
            <a:srgbClr val="E0637A"/>
          </a:solidFill>
          <a:ln/>
        </p:spPr>
      </p:sp>
      <p:sp>
        <p:nvSpPr>
          <p:cNvPr id="8" name="Shape 5"/>
          <p:cNvSpPr/>
          <p:nvPr/>
        </p:nvSpPr>
        <p:spPr>
          <a:xfrm>
            <a:off x="1408176" y="1988820"/>
            <a:ext cx="82296" cy="82296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9" name="Shape 6"/>
          <p:cNvSpPr/>
          <p:nvPr/>
        </p:nvSpPr>
        <p:spPr>
          <a:xfrm>
            <a:off x="1591056" y="1988820"/>
            <a:ext cx="82296" cy="82296"/>
          </a:xfrm>
          <a:prstGeom prst="ellipse">
            <a:avLst/>
          </a:prstGeom>
          <a:solidFill>
            <a:srgbClr val="6FBF8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719072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vanishingdose.app</a:t>
            </a:r>
            <a:endParaRPr lang="en-US" sz="900" dirty="0"/>
          </a:p>
        </p:txBody>
      </p:sp>
      <p:pic>
        <p:nvPicPr>
          <p:cNvPr id="11" name="Image 1" descr="E:\Hackathons\manipal-hackathon\vanishing-dose\deck_assets\shot_simula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185416"/>
            <a:ext cx="6400800" cy="400507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275320" y="1965960"/>
            <a:ext cx="420624" cy="420624"/>
          </a:xfrm>
          <a:prstGeom prst="ellipse">
            <a:avLst/>
          </a:prstGeom>
          <a:solidFill>
            <a:srgbClr val="1B242C"/>
          </a:solidFill>
          <a:ln/>
        </p:spPr>
      </p:sp>
      <p:pic>
        <p:nvPicPr>
          <p:cNvPr id="13" name="Image 2" descr="E:\Hackathons\manipal-hackathon\vanishing-dose\deck_assets\icons\grid_amb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001" y="2020641"/>
            <a:ext cx="311262" cy="31126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823960" y="1938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ready-made cases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8823960" y="226771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safe abstention to prescription abandonment, loaded instantly.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275320" y="3383280"/>
            <a:ext cx="420624" cy="420624"/>
          </a:xfrm>
          <a:prstGeom prst="ellipse">
            <a:avLst/>
          </a:prstGeom>
          <a:solidFill>
            <a:srgbClr val="1B242C"/>
          </a:solidFill>
          <a:ln/>
        </p:spPr>
      </p:sp>
      <p:pic>
        <p:nvPicPr>
          <p:cNvPr id="17" name="Image 3" descr="E:\Hackathons\manipal-hackathon\vanishing-dose\deck_assets\icons\alert_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001" y="3437961"/>
            <a:ext cx="311262" cy="31126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33558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clinical alert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8823960" y="36850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confidence, “Do not escalate dose,” generated in real time from the sliders.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8275320" y="4800600"/>
            <a:ext cx="420624" cy="420624"/>
          </a:xfrm>
          <a:prstGeom prst="ellipse">
            <a:avLst/>
          </a:prstGeom>
          <a:solidFill>
            <a:srgbClr val="1B242C"/>
          </a:solidFill>
          <a:ln/>
        </p:spPr>
      </p:sp>
      <p:pic>
        <p:nvPicPr>
          <p:cNvPr id="21" name="Image 4" descr="E:\Hackathons\manipal-hackathon\vanishing-dose\deck_assets\icons\check_amb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0001" y="4855281"/>
            <a:ext cx="311262" cy="31126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823960" y="47731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Point-of-care ready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8823960" y="510235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Framed as an EHR clinical-decision-support panel, not a research chart.</a:t>
            </a:r>
            <a:endParaRPr lang="en-US" sz="1050" dirty="0"/>
          </a:p>
        </p:txBody>
      </p:sp>
      <p:sp>
        <p:nvSpPr>
          <p:cNvPr id="24" name="Text 17"/>
          <p:cNvSpPr txBox="1"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10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 DOSE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E:\Hackathons\manipal-hackathon\vanishing-dose\deck_assets\icons\clipboard_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516636"/>
            <a:ext cx="338328" cy="338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5760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 TOUR · 03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9601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at the bedside, never blame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758952" y="1691640"/>
            <a:ext cx="6803136" cy="4562856"/>
          </a:xfrm>
          <a:prstGeom prst="roundRect">
            <a:avLst>
              <a:gd name="adj" fmla="val 1804"/>
            </a:avLst>
          </a:prstGeom>
          <a:solidFill>
            <a:srgbClr val="0B0F13"/>
          </a:solidFill>
          <a:ln w="12700">
            <a:solidFill>
              <a:srgbClr val="24303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05256" y="1805940"/>
            <a:ext cx="82296" cy="82296"/>
          </a:xfrm>
          <a:prstGeom prst="ellipse">
            <a:avLst/>
          </a:prstGeom>
          <a:solidFill>
            <a:srgbClr val="E0637A"/>
          </a:solidFill>
          <a:ln/>
        </p:spPr>
      </p:sp>
      <p:sp>
        <p:nvSpPr>
          <p:cNvPr id="8" name="Shape 5"/>
          <p:cNvSpPr/>
          <p:nvPr/>
        </p:nvSpPr>
        <p:spPr>
          <a:xfrm>
            <a:off x="1088136" y="1805940"/>
            <a:ext cx="82296" cy="82296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9" name="Shape 6"/>
          <p:cNvSpPr/>
          <p:nvPr/>
        </p:nvSpPr>
        <p:spPr>
          <a:xfrm>
            <a:off x="1271016" y="1805940"/>
            <a:ext cx="82296" cy="82296"/>
          </a:xfrm>
          <a:prstGeom prst="ellipse">
            <a:avLst/>
          </a:prstGeom>
          <a:solidFill>
            <a:srgbClr val="6FBF8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399032" y="1719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vanishingdose.app</a:t>
            </a:r>
            <a:endParaRPr lang="en-US" sz="900" dirty="0"/>
          </a:p>
        </p:txBody>
      </p:sp>
      <p:pic>
        <p:nvPicPr>
          <p:cNvPr id="11" name="Image 1" descr="E:\Hackathons\manipal-hackathon\vanishing-dose\deck_assets\shot_pati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02536"/>
            <a:ext cx="6766560" cy="423367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909560" y="1783080"/>
            <a:ext cx="3611880" cy="1371600"/>
          </a:xfrm>
          <a:prstGeom prst="roundRect">
            <a:avLst>
              <a:gd name="adj" fmla="val 4000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110728" y="1911096"/>
            <a:ext cx="3209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063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+63.9%</a:t>
            </a:r>
            <a:endParaRPr lang="en-US" sz="2500" dirty="0"/>
          </a:p>
        </p:txBody>
      </p:sp>
      <p:sp>
        <p:nvSpPr>
          <p:cNvPr id="14" name="Text 10"/>
          <p:cNvSpPr txBox="1"/>
          <p:nvPr/>
        </p:nvSpPr>
        <p:spPr>
          <a:xfrm>
            <a:off x="8110728" y="260604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Pre-visit refill surge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110728" y="2880360"/>
            <a:ext cx="3209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a 69.9% average gap the rest of the time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909560" y="3337560"/>
            <a:ext cx="3611880" cy="2194560"/>
          </a:xfrm>
          <a:prstGeom prst="roundRect">
            <a:avLst>
              <a:gd name="adj" fmla="val 2917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138160" y="3538728"/>
            <a:ext cx="402336" cy="402336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18" name="Image 2" descr="E:\Hackathons\manipal-hackathon\vanishing-dose\deck_assets\icons\message_grou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0464" y="3591032"/>
            <a:ext cx="297729" cy="29772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686800" y="3593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DOCTOR CONVERSATION TIP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8183880" y="411480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“Your clinic numbers look fine today, but taking this medicine every day is what protects your heart long-term. Was there a stretch recently where it was difficult to take it daily?”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8183880" y="53218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automatically. Focuses on cost and access, never accusation.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10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 DOSE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E:\Hackathons\manipal-hackathon\vanishing-dose\deck_assets\icons\pie_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516636"/>
            <a:ext cx="338328" cy="338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5760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POPULATION SCIENCE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96012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report the real number, even when it’s zero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737360"/>
            <a:ext cx="5989320" cy="4054221"/>
          </a:xfrm>
          <a:prstGeom prst="roundRect">
            <a:avLst>
              <a:gd name="adj" fmla="val 2030"/>
            </a:avLst>
          </a:prstGeom>
          <a:solidFill>
            <a:srgbClr val="0B0F13"/>
          </a:solidFill>
          <a:ln w="12700">
            <a:solidFill>
              <a:srgbClr val="24303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6384" y="1851660"/>
            <a:ext cx="82296" cy="82296"/>
          </a:xfrm>
          <a:prstGeom prst="ellipse">
            <a:avLst/>
          </a:prstGeom>
          <a:solidFill>
            <a:srgbClr val="E0637A"/>
          </a:solidFill>
          <a:ln/>
        </p:spPr>
      </p:sp>
      <p:sp>
        <p:nvSpPr>
          <p:cNvPr id="8" name="Shape 5"/>
          <p:cNvSpPr/>
          <p:nvPr/>
        </p:nvSpPr>
        <p:spPr>
          <a:xfrm>
            <a:off x="969264" y="1851660"/>
            <a:ext cx="82296" cy="82296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9" name="Shape 6"/>
          <p:cNvSpPr/>
          <p:nvPr/>
        </p:nvSpPr>
        <p:spPr>
          <a:xfrm>
            <a:off x="1152144" y="1851660"/>
            <a:ext cx="82296" cy="82296"/>
          </a:xfrm>
          <a:prstGeom prst="ellipse">
            <a:avLst/>
          </a:prstGeom>
          <a:solidFill>
            <a:srgbClr val="6FBF8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80160" y="17647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vanishingdose.app</a:t>
            </a:r>
            <a:endParaRPr lang="en-US" sz="900" dirty="0"/>
          </a:p>
        </p:txBody>
      </p:sp>
      <p:pic>
        <p:nvPicPr>
          <p:cNvPr id="11" name="Image 1" descr="E:\Hackathons\manipal-hackathon\vanishing-dose\deck_assets\shot_coh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48256"/>
            <a:ext cx="5952744" cy="3725037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903720" y="1828800"/>
            <a:ext cx="4617720" cy="1051560"/>
          </a:xfrm>
          <a:prstGeom prst="roundRect">
            <a:avLst>
              <a:gd name="adj" fmla="val 5217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104888" y="1956816"/>
            <a:ext cx="4215384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+0.0 pp</a:t>
            </a:r>
            <a:endParaRPr lang="en-US" sz="2500" dirty="0"/>
          </a:p>
        </p:txBody>
      </p:sp>
      <p:sp>
        <p:nvSpPr>
          <p:cNvPr id="14" name="Text 10"/>
          <p:cNvSpPr txBox="1"/>
          <p:nvPr/>
        </p:nvSpPr>
        <p:spPr>
          <a:xfrm>
            <a:off x="7104888" y="2459736"/>
            <a:ext cx="4215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lift, real CMS cohort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104888" y="2734056"/>
            <a:ext cx="42153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Flat. Not a bug.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903720" y="3035808"/>
            <a:ext cx="4617720" cy="1051560"/>
          </a:xfrm>
          <a:prstGeom prst="roundRect">
            <a:avLst>
              <a:gd name="adj" fmla="val 5217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104888" y="3163824"/>
            <a:ext cx="4215384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&lt; 0.001</a:t>
            </a:r>
            <a:endParaRPr lang="en-US" sz="2500" dirty="0"/>
          </a:p>
        </p:txBody>
      </p:sp>
      <p:sp>
        <p:nvSpPr>
          <p:cNvPr id="18" name="Text 14"/>
          <p:cNvSpPr txBox="1"/>
          <p:nvPr/>
        </p:nvSpPr>
        <p:spPr>
          <a:xfrm>
            <a:off x="7104888" y="3666744"/>
            <a:ext cx="4215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vs. 2,000 shuffled calendars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104888" y="3941064"/>
            <a:ext cx="42153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against chance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903720" y="4242816"/>
            <a:ext cx="4617720" cy="1051560"/>
          </a:xfrm>
          <a:prstGeom prst="roundRect">
            <a:avLst>
              <a:gd name="adj" fmla="val 5217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04888" y="4370832"/>
            <a:ext cx="4215384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6,286</a:t>
            </a:r>
            <a:endParaRPr lang="en-US" sz="2500" dirty="0"/>
          </a:p>
        </p:txBody>
      </p:sp>
      <p:sp>
        <p:nvSpPr>
          <p:cNvPr id="22" name="Text 18"/>
          <p:cNvSpPr txBox="1"/>
          <p:nvPr/>
        </p:nvSpPr>
        <p:spPr>
          <a:xfrm>
            <a:off x="7104888" y="4873752"/>
            <a:ext cx="4215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Patient-ingredient pairs studied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104888" y="5148072"/>
            <a:ext cx="42153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5,237 continuous Medicare patients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903720" y="5440680"/>
            <a:ext cx="4617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CMS’s public DE-SynPUF file deliberately perturbs refill dates to protect patient privacy, so a real pre-visit surge would be smoothed toward flat. Faking a positive result on public data would be easy. Reporting the true calculated result instead is the point.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10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 DOSE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E:\Hackathons\manipal-hackathon\vanishing-dose\deck_assets\icons\trend_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516636"/>
            <a:ext cx="338328" cy="338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5760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VALIDATION, ON A SEPARATE CODE PATH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96012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Proving the instrument before trusting its verdict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758952" y="1691640"/>
            <a:ext cx="6803136" cy="4562856"/>
          </a:xfrm>
          <a:prstGeom prst="roundRect">
            <a:avLst>
              <a:gd name="adj" fmla="val 1804"/>
            </a:avLst>
          </a:prstGeom>
          <a:solidFill>
            <a:srgbClr val="0B0F13"/>
          </a:solidFill>
          <a:ln w="12700">
            <a:solidFill>
              <a:srgbClr val="243039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05256" y="1805940"/>
            <a:ext cx="82296" cy="82296"/>
          </a:xfrm>
          <a:prstGeom prst="ellipse">
            <a:avLst/>
          </a:prstGeom>
          <a:solidFill>
            <a:srgbClr val="E0637A"/>
          </a:solidFill>
          <a:ln/>
        </p:spPr>
      </p:sp>
      <p:sp>
        <p:nvSpPr>
          <p:cNvPr id="8" name="Shape 5"/>
          <p:cNvSpPr/>
          <p:nvPr/>
        </p:nvSpPr>
        <p:spPr>
          <a:xfrm>
            <a:off x="1088136" y="1805940"/>
            <a:ext cx="82296" cy="82296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9" name="Shape 6"/>
          <p:cNvSpPr/>
          <p:nvPr/>
        </p:nvSpPr>
        <p:spPr>
          <a:xfrm>
            <a:off x="1271016" y="1805940"/>
            <a:ext cx="82296" cy="82296"/>
          </a:xfrm>
          <a:prstGeom prst="ellipse">
            <a:avLst/>
          </a:prstGeom>
          <a:solidFill>
            <a:srgbClr val="6FBF8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399032" y="1719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vanishingdose.app</a:t>
            </a:r>
            <a:endParaRPr lang="en-US" sz="900" dirty="0"/>
          </a:p>
        </p:txBody>
      </p:sp>
      <p:pic>
        <p:nvPicPr>
          <p:cNvPr id="11" name="Image 1" descr="E:\Hackathons\manipal-hackathon\vanishing-dose\deck_assets\shot_instru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02536"/>
            <a:ext cx="6766560" cy="423367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909560" y="178308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110728" y="1911096"/>
            <a:ext cx="320954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power</a:t>
            </a:r>
            <a:endParaRPr lang="en-US" sz="2500" dirty="0"/>
          </a:p>
        </p:txBody>
      </p:sp>
      <p:sp>
        <p:nvSpPr>
          <p:cNvPr id="14" name="Text 10"/>
          <p:cNvSpPr txBox="1"/>
          <p:nvPr/>
        </p:nvSpPr>
        <p:spPr>
          <a:xfrm>
            <a:off x="8110728" y="2633472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true effect of 1.3 pp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110728" y="2907792"/>
            <a:ext cx="3209544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replicate synthetic cohorts × 2 noise levels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909560" y="333756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110728" y="3465576"/>
            <a:ext cx="320954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~diagonal</a:t>
            </a:r>
            <a:endParaRPr lang="en-US" sz="2500" dirty="0"/>
          </a:p>
        </p:txBody>
      </p:sp>
      <p:sp>
        <p:nvSpPr>
          <p:cNvPr id="18" name="Text 14"/>
          <p:cNvSpPr txBox="1"/>
          <p:nvPr/>
        </p:nvSpPr>
        <p:spPr>
          <a:xfrm>
            <a:off x="8110728" y="4187952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vs. realized coverage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110728" y="4462272"/>
            <a:ext cx="3209544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on the real cohort’s held-out split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7909560" y="4892040"/>
            <a:ext cx="3611880" cy="1280160"/>
          </a:xfrm>
          <a:prstGeom prst="roundRect">
            <a:avLst>
              <a:gd name="adj" fmla="val 5000"/>
            </a:avLst>
          </a:prstGeom>
          <a:solidFill>
            <a:srgbClr val="1B242C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138160" y="5001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simulated ≠ real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38160" y="528523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 harness imports nothing from the real pipeline. Every chart here is tagged simulated or derived, never mixed with the real cohort.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10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 DOSE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E:\Hackathons\manipal-hackathon\vanishing-dose\deck_assets\icons\lock_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516636"/>
            <a:ext cx="338328" cy="338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5760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NON-NEGOTIABLES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96012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survive hostile questioning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3520440" cy="1965960"/>
          </a:xfrm>
          <a:prstGeom prst="roundRect">
            <a:avLst>
              <a:gd name="adj" fmla="val 3256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221992"/>
            <a:ext cx="457200" cy="457200"/>
          </a:xfrm>
          <a:prstGeom prst="ellipse">
            <a:avLst/>
          </a:prstGeom>
          <a:solidFill>
            <a:srgbClr val="1B242C"/>
          </a:solidFill>
          <a:ln/>
        </p:spPr>
      </p:sp>
      <p:pic>
        <p:nvPicPr>
          <p:cNvPr id="8" name="Image 1" descr="E:\Hackathons\manipal-hackathon\vanishing-dose\deck_assets\icons\database_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" y="228142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96112" y="2807208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on every number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896112" y="3264408"/>
            <a:ext cx="3008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/ derived / simulated, tagged on-screen everywhere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3256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99432" y="2221992"/>
            <a:ext cx="457200" cy="457200"/>
          </a:xfrm>
          <a:prstGeom prst="ellipse">
            <a:avLst/>
          </a:prstGeom>
          <a:solidFill>
            <a:srgbClr val="1B242C"/>
          </a:solidFill>
          <a:ln/>
        </p:spPr>
      </p:sp>
      <p:pic>
        <p:nvPicPr>
          <p:cNvPr id="13" name="Image 2" descr="E:\Hackathons\manipal-hackathon\vanishing-dose\deck_assets\icons\shield_amb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868" y="2281428"/>
            <a:ext cx="338328" cy="33832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99432" y="2807208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validation path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599432" y="3264408"/>
            <a:ext cx="3008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never touches the real cohort, and vice versa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46720" y="1965960"/>
            <a:ext cx="3520440" cy="1965960"/>
          </a:xfrm>
          <a:prstGeom prst="roundRect">
            <a:avLst>
              <a:gd name="adj" fmla="val 3256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302752" y="2221992"/>
            <a:ext cx="457200" cy="457200"/>
          </a:xfrm>
          <a:prstGeom prst="ellipse">
            <a:avLst/>
          </a:prstGeom>
          <a:solidFill>
            <a:srgbClr val="1B242C"/>
          </a:solidFill>
          <a:ln/>
        </p:spPr>
      </p:sp>
      <p:pic>
        <p:nvPicPr>
          <p:cNvPr id="18" name="Image 3" descr="E:\Hackathons\manipal-hackathon\vanishing-dose\deck_assets\icons\lock_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2188" y="2281428"/>
            <a:ext cx="338328" cy="33832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02752" y="2807208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offline at runtime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8302752" y="3264408"/>
            <a:ext cx="3008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static export; zero API calls once the pipeline has run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40080" y="4160520"/>
            <a:ext cx="3520440" cy="1965960"/>
          </a:xfrm>
          <a:prstGeom prst="roundRect">
            <a:avLst>
              <a:gd name="adj" fmla="val 3256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96112" y="4416552"/>
            <a:ext cx="457200" cy="457200"/>
          </a:xfrm>
          <a:prstGeom prst="ellipse">
            <a:avLst/>
          </a:prstGeom>
          <a:solidFill>
            <a:srgbClr val="1B242C"/>
          </a:solidFill>
          <a:ln/>
        </p:spPr>
      </p:sp>
      <p:pic>
        <p:nvPicPr>
          <p:cNvPr id="23" name="Image 4" descr="E:\Hackathons\manipal-hackathon\vanishing-dose\deck_assets\icons\grid_amb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8" y="4475988"/>
            <a:ext cx="338328" cy="33832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96112" y="5001768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seeded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896112" y="5458968"/>
            <a:ext cx="3008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inputs reproduce byte-identical outputs, every run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4343400" y="4160520"/>
            <a:ext cx="3520440" cy="1965960"/>
          </a:xfrm>
          <a:prstGeom prst="roundRect">
            <a:avLst>
              <a:gd name="adj" fmla="val 3256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599432" y="4416552"/>
            <a:ext cx="457200" cy="457200"/>
          </a:xfrm>
          <a:prstGeom prst="ellipse">
            <a:avLst/>
          </a:prstGeom>
          <a:solidFill>
            <a:srgbClr val="1B242C"/>
          </a:solidFill>
          <a:ln/>
        </p:spPr>
      </p:sp>
      <p:pic>
        <p:nvPicPr>
          <p:cNvPr id="28" name="Image 5" descr="E:\Hackathons\manipal-hackathon\vanishing-dose\deck_assets\icons\message_amb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8868" y="4475988"/>
            <a:ext cx="338328" cy="33832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4599432" y="5001768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diagnostic language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4599432" y="5458968"/>
            <a:ext cx="3008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evidence and intervals, never “non-compliant”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8046720" y="4160520"/>
            <a:ext cx="3520440" cy="1965960"/>
          </a:xfrm>
          <a:prstGeom prst="roundRect">
            <a:avLst>
              <a:gd name="adj" fmla="val 3256"/>
            </a:avLst>
          </a:prstGeom>
          <a:solidFill>
            <a:srgbClr val="161E25"/>
          </a:solidFill>
          <a:ln w="12700">
            <a:solidFill>
              <a:srgbClr val="243039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8302752" y="4416552"/>
            <a:ext cx="457200" cy="457200"/>
          </a:xfrm>
          <a:prstGeom prst="ellipse">
            <a:avLst/>
          </a:prstGeom>
          <a:solidFill>
            <a:srgbClr val="1B242C"/>
          </a:solidFill>
          <a:ln/>
        </p:spPr>
      </p:sp>
      <p:pic>
        <p:nvPicPr>
          <p:cNvPr id="33" name="Image 6" descr="E:\Hackathons\manipal-hackathon\vanishing-dose\deck_assets\icons\clipboard_amb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2188" y="4475988"/>
            <a:ext cx="338328" cy="33832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302752" y="5001768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CMS data, disclosed limits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8302752" y="5458968"/>
            <a:ext cx="3008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DE-SynPUF’s synthetic-data caveats stated on-screen, not hidden</a:t>
            </a:r>
            <a:endParaRPr lang="en-US" sz="1050" dirty="0"/>
          </a:p>
        </p:txBody>
      </p:sp>
      <p:sp>
        <p:nvSpPr>
          <p:cNvPr id="36" name="Text 27"/>
          <p:cNvSpPr txBox="1"/>
          <p:nvPr/>
        </p:nvSpPr>
        <p:spPr>
          <a:xfrm>
            <a:off x="1100297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10</a:t>
            </a:r>
            <a:endParaRPr lang="en-US" sz="900" dirty="0"/>
          </a:p>
        </p:txBody>
      </p:sp>
      <p:sp>
        <p:nvSpPr>
          <p:cNvPr id="37" name="Text 28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 DOSE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120640"/>
            <a:ext cx="91440" cy="91440"/>
          </a:xfrm>
          <a:prstGeom prst="ellipse">
            <a:avLst/>
          </a:prstGeom>
          <a:solidFill>
            <a:srgbClr val="D9A441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5760720"/>
            <a:ext cx="54864" cy="54864"/>
          </a:xfrm>
          <a:prstGeom prst="ellipse">
            <a:avLst/>
          </a:prstGeom>
          <a:solidFill>
            <a:srgbClr val="D9A441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309360"/>
            <a:ext cx="128016" cy="128016"/>
          </a:xfrm>
          <a:prstGeom prst="ellipse">
            <a:avLst/>
          </a:prstGeom>
          <a:solidFill>
            <a:srgbClr val="D9A441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554480" y="5577840"/>
            <a:ext cx="73152" cy="73152"/>
          </a:xfrm>
          <a:prstGeom prst="ellipse">
            <a:avLst/>
          </a:prstGeom>
          <a:solidFill>
            <a:srgbClr val="D9A441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5943600"/>
            <a:ext cx="45720" cy="45720"/>
          </a:xfrm>
          <a:prstGeom prst="ellipse">
            <a:avLst/>
          </a:prstGeom>
          <a:solidFill>
            <a:srgbClr val="D9A441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828800" y="6126480"/>
            <a:ext cx="91440" cy="91440"/>
          </a:xfrm>
          <a:prstGeom prst="ellipse">
            <a:avLst/>
          </a:prstGeom>
          <a:solidFill>
            <a:srgbClr val="D9A441">
              <a:alpha val="1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640080"/>
            <a:ext cx="548640" cy="54864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9" name="Image 0" descr="E:\Hackathons\manipal-hackathon\vanishing-dose\deck_assets\icons\heart_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" y="711403"/>
            <a:ext cx="405994" cy="40599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25880" y="71323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stake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1417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700"/>
              </a:lnSpc>
              <a:buNone/>
            </a:pPr>
            <a:r>
              <a:rPr lang="en-US" sz="42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Don’t escalate a dose</a:t>
            </a:r>
            <a:endParaRPr lang="en-US" sz="4200" dirty="0"/>
          </a:p>
          <a:p>
            <a:pPr indent="0" marL="0">
              <a:lnSpc>
                <a:spcPts val="4700"/>
              </a:lnSpc>
              <a:buNone/>
            </a:pPr>
            <a:r>
              <a:rPr lang="en-US" sz="4200" b="1" dirty="0">
                <a:solidFill>
                  <a:srgbClr val="E8ED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was </a:t>
            </a:r>
            <a:endParaRPr lang="en-US" sz="4200" dirty="0"/>
          </a:p>
          <a:p>
            <a:pPr indent="0" marL="0">
              <a:lnSpc>
                <a:spcPts val="4700"/>
              </a:lnSpc>
              <a:buNone/>
            </a:pPr>
            <a:r>
              <a:rPr lang="en-US" sz="4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actually missing.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29184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F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 Dose turns three quiet data streams, pharmacy refills, wearable vitals, and clinic visits, into one honest answer to the question every prescriber eventually asks: is this medicine failing, or is it simply not being taken?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4663440"/>
            <a:ext cx="10881360" cy="0"/>
          </a:xfrm>
          <a:prstGeom prst="line">
            <a:avLst/>
          </a:prstGeom>
          <a:noFill/>
          <a:ln w="12700">
            <a:solidFill>
              <a:srgbClr val="24303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892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166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polars · scikit-learn · RxNorm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297680" y="4892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5166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TypeScript · Tailwind · visx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4892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A4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955280" y="5166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DE-SynPUF (Medicare) · simulated wearables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Vanishing Dose  ·  Manipal Hackathon 2026, Healthcare Track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2026-09-17T14:12:06Z</dcterms:created>
  <dcterms:modified xsi:type="dcterms:W3CDTF">2026-09-17T14:12:06Z</dcterms:modified>
</cp:coreProperties>
</file>