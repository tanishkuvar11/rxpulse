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9" d="100"/>
          <a:sy n="89" d="100"/>
        </p:scale>
        <p:origin x="437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7112591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14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45720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E8ED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Manipal Hackathon 2026</a:t>
            </a:r>
            <a:endParaRPr lang="en-US" sz="4200" b="1" dirty="0"/>
          </a:p>
        </p:txBody>
      </p:sp>
      <p:pic>
        <p:nvPicPr>
          <p:cNvPr id="3" name="Image 0" descr="E:\Hackathons\manipal-hackathon\vanishing-dose\manipal_logo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14255" y="411480"/>
            <a:ext cx="1645920" cy="73152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731520" y="1325880"/>
            <a:ext cx="10698480" cy="0"/>
          </a:xfrm>
          <a:prstGeom prst="line">
            <a:avLst/>
          </a:prstGeom>
          <a:noFill/>
          <a:ln w="19050">
            <a:solidFill>
              <a:srgbClr val="243039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731520" y="1508761"/>
            <a:ext cx="10716768" cy="4416551"/>
          </a:xfrm>
          <a:prstGeom prst="roundRect">
            <a:avLst>
              <a:gd name="adj" fmla="val 1569"/>
            </a:avLst>
          </a:prstGeom>
          <a:solidFill>
            <a:srgbClr val="161E25"/>
          </a:solidFill>
          <a:ln w="12700">
            <a:solidFill>
              <a:srgbClr val="243039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1005840" y="173736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D9A44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Team Name:</a:t>
            </a:r>
            <a:endParaRPr lang="en-US" sz="1350" b="1" dirty="0"/>
          </a:p>
        </p:txBody>
      </p:sp>
      <p:sp>
        <p:nvSpPr>
          <p:cNvPr id="7" name="Text 4"/>
          <p:cNvSpPr txBox="1"/>
          <p:nvPr/>
        </p:nvSpPr>
        <p:spPr>
          <a:xfrm>
            <a:off x="3474720" y="173736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00"/>
              </a:lnSpc>
              <a:buNone/>
            </a:pPr>
            <a:r>
              <a:rPr lang="en-US" sz="1350" b="1" dirty="0">
                <a:solidFill>
                  <a:srgbClr val="E8ED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Void</a:t>
            </a:r>
            <a:endParaRPr lang="en-US" sz="1350" b="1" dirty="0"/>
          </a:p>
        </p:txBody>
      </p:sp>
      <p:sp>
        <p:nvSpPr>
          <p:cNvPr id="8" name="Text 5"/>
          <p:cNvSpPr txBox="1"/>
          <p:nvPr/>
        </p:nvSpPr>
        <p:spPr>
          <a:xfrm>
            <a:off x="1005840" y="2359152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D9A44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Track:</a:t>
            </a:r>
            <a:endParaRPr lang="en-US" sz="1350" b="1" dirty="0"/>
          </a:p>
        </p:txBody>
      </p:sp>
      <p:sp>
        <p:nvSpPr>
          <p:cNvPr id="9" name="Text 6"/>
          <p:cNvSpPr txBox="1"/>
          <p:nvPr/>
        </p:nvSpPr>
        <p:spPr>
          <a:xfrm>
            <a:off x="3474720" y="2359152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00"/>
              </a:lnSpc>
              <a:buNone/>
            </a:pPr>
            <a:r>
              <a:rPr lang="en-US" sz="1350" b="1" dirty="0">
                <a:solidFill>
                  <a:srgbClr val="E8ED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Healthcare (SDG 3: Good Health and Well-being)</a:t>
            </a:r>
            <a:endParaRPr lang="en-US" sz="1350" b="1" dirty="0"/>
          </a:p>
        </p:txBody>
      </p:sp>
      <p:sp>
        <p:nvSpPr>
          <p:cNvPr id="10" name="Text 7"/>
          <p:cNvSpPr txBox="1"/>
          <p:nvPr/>
        </p:nvSpPr>
        <p:spPr>
          <a:xfrm>
            <a:off x="1005840" y="2980944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D9A44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Problem Statement:</a:t>
            </a:r>
            <a:endParaRPr lang="en-US" sz="1350" b="1" dirty="0"/>
          </a:p>
        </p:txBody>
      </p:sp>
      <p:sp>
        <p:nvSpPr>
          <p:cNvPr id="11" name="Text 8"/>
          <p:cNvSpPr txBox="1"/>
          <p:nvPr/>
        </p:nvSpPr>
        <p:spPr>
          <a:xfrm>
            <a:off x="3474720" y="2980944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00"/>
              </a:lnSpc>
              <a:buNone/>
            </a:pPr>
            <a:r>
              <a:rPr lang="en-US" sz="1350" b="1" dirty="0">
                <a:solidFill>
                  <a:srgbClr val="E8ED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P01: The Vanishing Dose: Detecting Medication Non-Adherence Without Asking</a:t>
            </a:r>
            <a:endParaRPr lang="en-US" sz="1350" b="1" dirty="0"/>
          </a:p>
        </p:txBody>
      </p:sp>
      <p:sp>
        <p:nvSpPr>
          <p:cNvPr id="12" name="Text 9"/>
          <p:cNvSpPr txBox="1"/>
          <p:nvPr/>
        </p:nvSpPr>
        <p:spPr>
          <a:xfrm>
            <a:off x="1005840" y="3602736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D9A44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Solution Title:</a:t>
            </a:r>
            <a:endParaRPr lang="en-US" sz="1350" b="1" dirty="0"/>
          </a:p>
        </p:txBody>
      </p:sp>
      <p:sp>
        <p:nvSpPr>
          <p:cNvPr id="13" name="Text 10"/>
          <p:cNvSpPr txBox="1"/>
          <p:nvPr/>
        </p:nvSpPr>
        <p:spPr>
          <a:xfrm>
            <a:off x="3474720" y="3602736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00"/>
              </a:lnSpc>
              <a:buNone/>
            </a:pPr>
            <a:r>
              <a:rPr lang="en-US" sz="1350" b="1" dirty="0">
                <a:solidFill>
                  <a:srgbClr val="E8ED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RxPulse: Multi-Signal Clinical Decision Support &amp; Adherence Telemetry Engine</a:t>
            </a:r>
            <a:endParaRPr lang="en-US" sz="1350" b="1" dirty="0"/>
          </a:p>
        </p:txBody>
      </p:sp>
      <p:sp>
        <p:nvSpPr>
          <p:cNvPr id="14" name="Text 11"/>
          <p:cNvSpPr txBox="1"/>
          <p:nvPr/>
        </p:nvSpPr>
        <p:spPr>
          <a:xfrm>
            <a:off x="1005840" y="4224528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D9A44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Team Members:</a:t>
            </a:r>
            <a:endParaRPr lang="en-US" sz="1350" b="1" dirty="0"/>
          </a:p>
        </p:txBody>
      </p:sp>
      <p:sp>
        <p:nvSpPr>
          <p:cNvPr id="15" name="Text 12"/>
          <p:cNvSpPr txBox="1"/>
          <p:nvPr/>
        </p:nvSpPr>
        <p:spPr>
          <a:xfrm>
            <a:off x="3474720" y="4224528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00"/>
              </a:lnSpc>
              <a:buNone/>
            </a:pPr>
            <a:r>
              <a:rPr lang="en-US" sz="1350" b="1" dirty="0">
                <a:solidFill>
                  <a:srgbClr val="E8ED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Tanish Kuvar, Aman Mishra</a:t>
            </a:r>
            <a:endParaRPr lang="en-US" sz="1350" b="1" dirty="0"/>
          </a:p>
        </p:txBody>
      </p:sp>
      <p:sp>
        <p:nvSpPr>
          <p:cNvPr id="16" name="Text 13"/>
          <p:cNvSpPr txBox="1"/>
          <p:nvPr/>
        </p:nvSpPr>
        <p:spPr>
          <a:xfrm>
            <a:off x="1005840" y="484632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D9A44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GitHub:</a:t>
            </a:r>
            <a:endParaRPr lang="en-US" sz="1350" b="1" dirty="0"/>
          </a:p>
        </p:txBody>
      </p:sp>
      <p:sp>
        <p:nvSpPr>
          <p:cNvPr id="17" name="Text 14"/>
          <p:cNvSpPr txBox="1"/>
          <p:nvPr/>
        </p:nvSpPr>
        <p:spPr>
          <a:xfrm>
            <a:off x="3474720" y="484632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300" b="1" dirty="0">
                <a:solidFill>
                  <a:srgbClr val="6FBF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https://github.com/tanishkuvar11/RxPulse</a:t>
            </a:r>
            <a:endParaRPr lang="en-US" sz="1300" b="1" dirty="0"/>
          </a:p>
        </p:txBody>
      </p:sp>
      <p:sp>
        <p:nvSpPr>
          <p:cNvPr id="18" name="Text 15"/>
          <p:cNvSpPr txBox="1"/>
          <p:nvPr/>
        </p:nvSpPr>
        <p:spPr>
          <a:xfrm>
            <a:off x="1005840" y="5468112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D9A44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Evaluation Target:</a:t>
            </a:r>
            <a:endParaRPr lang="en-US" sz="1350" b="1" dirty="0"/>
          </a:p>
        </p:txBody>
      </p:sp>
      <p:sp>
        <p:nvSpPr>
          <p:cNvPr id="19" name="Text 16"/>
          <p:cNvSpPr txBox="1"/>
          <p:nvPr/>
        </p:nvSpPr>
        <p:spPr>
          <a:xfrm>
            <a:off x="3474720" y="5468112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00"/>
              </a:lnSpc>
              <a:buNone/>
            </a:pPr>
            <a:r>
              <a:rPr lang="en-US" sz="1350" b="1" dirty="0">
                <a:solidFill>
                  <a:srgbClr val="E8ED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Round 1 Ideation + Section 8.6 Prototype Bonus Submission</a:t>
            </a:r>
            <a:endParaRPr lang="en-US" sz="1350" b="1" dirty="0"/>
          </a:p>
        </p:txBody>
      </p:sp>
      <p:sp>
        <p:nvSpPr>
          <p:cNvPr id="20" name="Text 17"/>
          <p:cNvSpPr txBox="1"/>
          <p:nvPr/>
        </p:nvSpPr>
        <p:spPr>
          <a:xfrm>
            <a:off x="11002975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8FA0A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01 / 05</a:t>
            </a:r>
            <a:endParaRPr lang="en-US" sz="900" b="1" dirty="0"/>
          </a:p>
        </p:txBody>
      </p:sp>
      <p:sp>
        <p:nvSpPr>
          <p:cNvPr id="21" name="Text 18"/>
          <p:cNvSpPr txBox="1"/>
          <p:nvPr/>
        </p:nvSpPr>
        <p:spPr>
          <a:xfrm>
            <a:off x="640080" y="64465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8FA0A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RXPULSE</a:t>
            </a:r>
            <a:endParaRPr lang="en-US" sz="900" b="1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E14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11480"/>
            <a:ext cx="457200" cy="457200"/>
          </a:xfrm>
          <a:prstGeom prst="ellipse">
            <a:avLst/>
          </a:prstGeom>
          <a:solidFill>
            <a:srgbClr val="D9A441"/>
          </a:solidFill>
          <a:ln/>
        </p:spPr>
      </p:sp>
      <p:pic>
        <p:nvPicPr>
          <p:cNvPr id="3" name="Image 0" descr="E:\Hackathons\manipal-hackathon\vanishing-dose\deck_assets\icons\alert_groun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9516" y="470916"/>
            <a:ext cx="338328" cy="338328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234440" y="5029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D9A44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CLINICAL SOLUTION &amp; LIVE PROTOTYPE</a:t>
            </a:r>
            <a:endParaRPr lang="en-US" sz="1100" dirty="0"/>
          </a:p>
        </p:txBody>
      </p:sp>
      <p:sp>
        <p:nvSpPr>
          <p:cNvPr id="5" name="Text 2"/>
          <p:cNvSpPr txBox="1"/>
          <p:nvPr/>
        </p:nvSpPr>
        <p:spPr>
          <a:xfrm>
            <a:off x="640079" y="914400"/>
            <a:ext cx="112772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E8ED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Solution: Detecting White-Coat Adherence Before Hazardous Dose Escalation</a:t>
            </a:r>
            <a:endParaRPr lang="en-US" sz="2400" dirty="0"/>
          </a:p>
        </p:txBody>
      </p:sp>
      <p:sp>
        <p:nvSpPr>
          <p:cNvPr id="6" name="Shape 3"/>
          <p:cNvSpPr/>
          <p:nvPr/>
        </p:nvSpPr>
        <p:spPr>
          <a:xfrm>
            <a:off x="640080" y="1600200"/>
            <a:ext cx="4663440" cy="2286000"/>
          </a:xfrm>
          <a:prstGeom prst="roundRect">
            <a:avLst>
              <a:gd name="adj" fmla="val 2800"/>
            </a:avLst>
          </a:prstGeom>
          <a:solidFill>
            <a:srgbClr val="161E25"/>
          </a:solidFill>
          <a:ln w="12700">
            <a:solidFill>
              <a:srgbClr val="E0637A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877824" y="1892808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100" dirty="0">
                <a:solidFill>
                  <a:srgbClr val="E063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CLINICAL HAZARD: DOSE ESCALATION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868680" y="2148840"/>
            <a:ext cx="420624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400" b="1" dirty="0">
                <a:solidFill>
                  <a:srgbClr val="E8ED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hypertension persists, doctors reflexively double the prescription. If missed doses are the real cause, dosage escalation becomes dangerous the moment the patient resumes daily medication: risking acute hypotension, dizziness, or emergency room visits.</a:t>
            </a:r>
            <a:endParaRPr lang="en-US" sz="1400" b="1" dirty="0"/>
          </a:p>
        </p:txBody>
      </p:sp>
      <p:sp>
        <p:nvSpPr>
          <p:cNvPr id="9" name="Shape 6"/>
          <p:cNvSpPr/>
          <p:nvPr/>
        </p:nvSpPr>
        <p:spPr>
          <a:xfrm>
            <a:off x="640080" y="4023360"/>
            <a:ext cx="4663440" cy="2240280"/>
          </a:xfrm>
          <a:prstGeom prst="roundRect">
            <a:avLst>
              <a:gd name="adj" fmla="val 2857"/>
            </a:avLst>
          </a:prstGeom>
          <a:solidFill>
            <a:srgbClr val="161E25"/>
          </a:solidFill>
          <a:ln w="12700">
            <a:solidFill>
              <a:srgbClr val="6FBF8B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868680" y="4224528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100" dirty="0">
                <a:solidFill>
                  <a:srgbClr val="6FBF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RXPULSE CLINICAL EVIDENCE ENGINE</a:t>
            </a:r>
            <a:endParaRPr lang="en-US" sz="1400" dirty="0"/>
          </a:p>
        </p:txBody>
      </p:sp>
      <p:sp>
        <p:nvSpPr>
          <p:cNvPr id="11" name="Text 8"/>
          <p:cNvSpPr txBox="1"/>
          <p:nvPr/>
        </p:nvSpPr>
        <p:spPr>
          <a:xfrm>
            <a:off x="868680" y="4480560"/>
            <a:ext cx="42062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400" b="1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Pharmacy Claims: </a:t>
            </a:r>
            <a:r>
              <a:rPr lang="en-US" sz="1400" b="1" dirty="0">
                <a:solidFill>
                  <a:srgbClr val="E8ED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Detects unmedicated refill gaps (e.g. 22-day gaps).
</a:t>
            </a:r>
            <a:r>
              <a:rPr lang="en-US" sz="1400" b="1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Smartwatch Telemetry: </a:t>
            </a:r>
            <a:r>
              <a:rPr lang="en-US" sz="1400" b="1" dirty="0">
                <a:solidFill>
                  <a:srgbClr val="E8ED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Confirms autonomic heart rate rebounds (+14 bpm).
</a:t>
            </a:r>
            <a:r>
              <a:rPr lang="en-US" sz="1400" b="1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Non-Accusatory CDS: </a:t>
            </a:r>
            <a:r>
              <a:rPr lang="en-US" sz="1400" b="1" dirty="0">
                <a:solidFill>
                  <a:srgbClr val="E8ED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Prompts: "DO NOT ESCALATE DOSE: Pre-Visit Surge Detected"</a:t>
            </a:r>
            <a:endParaRPr lang="en-US" sz="1400" b="1" dirty="0"/>
          </a:p>
        </p:txBody>
      </p:sp>
      <p:sp>
        <p:nvSpPr>
          <p:cNvPr id="12" name="Shape 9"/>
          <p:cNvSpPr/>
          <p:nvPr/>
        </p:nvSpPr>
        <p:spPr>
          <a:xfrm>
            <a:off x="5532120" y="1600200"/>
            <a:ext cx="6035040" cy="4082796"/>
          </a:xfrm>
          <a:prstGeom prst="roundRect">
            <a:avLst>
              <a:gd name="adj" fmla="val 2016"/>
            </a:avLst>
          </a:prstGeom>
          <a:solidFill>
            <a:srgbClr val="0B0F13"/>
          </a:solidFill>
          <a:ln w="12700">
            <a:solidFill>
              <a:srgbClr val="243039"/>
            </a:solidFill>
            <a:prstDash val="solid"/>
          </a:ln>
          <a:effectLst>
            <a:outerShdw blurRad="228600" dist="762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5678424" y="1714500"/>
            <a:ext cx="82296" cy="82296"/>
          </a:xfrm>
          <a:prstGeom prst="ellipse">
            <a:avLst/>
          </a:prstGeom>
          <a:solidFill>
            <a:srgbClr val="E0637A"/>
          </a:solidFill>
          <a:ln/>
        </p:spPr>
      </p:sp>
      <p:sp>
        <p:nvSpPr>
          <p:cNvPr id="14" name="Shape 11"/>
          <p:cNvSpPr/>
          <p:nvPr/>
        </p:nvSpPr>
        <p:spPr>
          <a:xfrm>
            <a:off x="5861304" y="1714500"/>
            <a:ext cx="82296" cy="82296"/>
          </a:xfrm>
          <a:prstGeom prst="ellipse">
            <a:avLst/>
          </a:prstGeom>
          <a:solidFill>
            <a:srgbClr val="D9A441"/>
          </a:solidFill>
          <a:ln/>
        </p:spPr>
      </p:sp>
      <p:sp>
        <p:nvSpPr>
          <p:cNvPr id="15" name="Shape 12"/>
          <p:cNvSpPr/>
          <p:nvPr/>
        </p:nvSpPr>
        <p:spPr>
          <a:xfrm>
            <a:off x="6044184" y="1714500"/>
            <a:ext cx="82296" cy="82296"/>
          </a:xfrm>
          <a:prstGeom prst="ellipse">
            <a:avLst/>
          </a:prstGeom>
          <a:solidFill>
            <a:srgbClr val="6FBF8B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6172200" y="162763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8FA0A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RXPULSE.APP/SIMULATOR</a:t>
            </a:r>
            <a:endParaRPr lang="en-US" sz="900" dirty="0"/>
          </a:p>
        </p:txBody>
      </p:sp>
      <p:pic>
        <p:nvPicPr>
          <p:cNvPr id="17" name="Image 1" descr="E:\Hackathons\manipal-hackathon\vanishing-dose\deck_assets\shot_simulato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50408" y="1911096"/>
            <a:ext cx="5998464" cy="3753612"/>
          </a:xfrm>
          <a:prstGeom prst="rect">
            <a:avLst/>
          </a:prstGeom>
        </p:spPr>
      </p:pic>
      <p:sp>
        <p:nvSpPr>
          <p:cNvPr id="18" name="Text 14"/>
          <p:cNvSpPr txBox="1"/>
          <p:nvPr/>
        </p:nvSpPr>
        <p:spPr>
          <a:xfrm>
            <a:off x="11002975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8FA0A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02 / 05</a:t>
            </a:r>
            <a:endParaRPr lang="en-US" sz="900" dirty="0"/>
          </a:p>
        </p:txBody>
      </p:sp>
      <p:sp>
        <p:nvSpPr>
          <p:cNvPr id="19" name="Text 15"/>
          <p:cNvSpPr txBox="1"/>
          <p:nvPr/>
        </p:nvSpPr>
        <p:spPr>
          <a:xfrm>
            <a:off x="640080" y="64465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8FA0A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RXPULSE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E14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11480"/>
            <a:ext cx="457200" cy="457200"/>
          </a:xfrm>
          <a:prstGeom prst="ellipse">
            <a:avLst/>
          </a:prstGeom>
          <a:solidFill>
            <a:srgbClr val="D9A441"/>
          </a:solidFill>
          <a:ln/>
        </p:spPr>
      </p:sp>
      <p:pic>
        <p:nvPicPr>
          <p:cNvPr id="3" name="Image 0" descr="E:\Hackathons\manipal-hackathon\vanishing-dose\deck_assets\icons\grid_groun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9516" y="470916"/>
            <a:ext cx="338328" cy="338328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234440" y="5029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D9A44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ARCHITECTURE &amp; ALGORITHMIC ENGINE</a:t>
            </a:r>
            <a:endParaRPr lang="en-US" sz="11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91440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E8ED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Technical Implementation: Pipeline, Conformal ML &amp; Modern EHR Interface</a:t>
            </a:r>
            <a:endParaRPr lang="en-US" sz="2300" dirty="0"/>
          </a:p>
        </p:txBody>
      </p:sp>
      <p:sp>
        <p:nvSpPr>
          <p:cNvPr id="6" name="Shape 3"/>
          <p:cNvSpPr/>
          <p:nvPr/>
        </p:nvSpPr>
        <p:spPr>
          <a:xfrm>
            <a:off x="640080" y="1554480"/>
            <a:ext cx="2560320" cy="1783080"/>
          </a:xfrm>
          <a:prstGeom prst="roundRect">
            <a:avLst>
              <a:gd name="adj" fmla="val 3590"/>
            </a:avLst>
          </a:prstGeom>
          <a:solidFill>
            <a:srgbClr val="161E25"/>
          </a:solidFill>
          <a:ln w="12700">
            <a:solidFill>
              <a:srgbClr val="243039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2560320" y="16916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D9A44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01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1719072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8ED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Data Pipeline (Polars)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822960" y="2084832"/>
            <a:ext cx="2194560" cy="0"/>
          </a:xfrm>
          <a:prstGeom prst="line">
            <a:avLst/>
          </a:prstGeom>
          <a:noFill/>
          <a:ln w="12700">
            <a:solidFill>
              <a:srgbClr val="243039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822960" y="2150394"/>
            <a:ext cx="2194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50"/>
              </a:lnSpc>
              <a:buNone/>
            </a:pPr>
            <a:r>
              <a:rPr lang="en-US" sz="1200" b="1" dirty="0">
                <a:solidFill>
                  <a:srgbClr val="8FA0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Ingests 116k+ CMS Medicare beneficiaries, maps RxNorm ingredients, computes daily PDC, censors inpatient stays.</a:t>
            </a:r>
            <a:endParaRPr lang="en-US" sz="1200" b="1" dirty="0"/>
          </a:p>
        </p:txBody>
      </p:sp>
      <p:sp>
        <p:nvSpPr>
          <p:cNvPr id="11" name="Shape 8"/>
          <p:cNvSpPr/>
          <p:nvPr/>
        </p:nvSpPr>
        <p:spPr>
          <a:xfrm>
            <a:off x="3383280" y="1554480"/>
            <a:ext cx="2560320" cy="1783080"/>
          </a:xfrm>
          <a:prstGeom prst="roundRect">
            <a:avLst>
              <a:gd name="adj" fmla="val 3590"/>
            </a:avLst>
          </a:prstGeom>
          <a:solidFill>
            <a:srgbClr val="161E25"/>
          </a:solidFill>
          <a:ln w="12700">
            <a:solidFill>
              <a:srgbClr val="243039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5303520" y="16916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D9A44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02</a:t>
            </a:r>
            <a:endParaRPr lang="en-US" sz="1400" dirty="0"/>
          </a:p>
        </p:txBody>
      </p:sp>
      <p:sp>
        <p:nvSpPr>
          <p:cNvPr id="13" name="Text 10"/>
          <p:cNvSpPr txBox="1"/>
          <p:nvPr/>
        </p:nvSpPr>
        <p:spPr>
          <a:xfrm>
            <a:off x="3566160" y="1719072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8ED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Archetypes (GMM)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3566160" y="2084832"/>
            <a:ext cx="2194560" cy="0"/>
          </a:xfrm>
          <a:prstGeom prst="line">
            <a:avLst/>
          </a:prstGeom>
          <a:noFill/>
          <a:ln w="12700">
            <a:solidFill>
              <a:srgbClr val="243039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3566160" y="2150394"/>
            <a:ext cx="2194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50"/>
              </a:lnSpc>
              <a:buNone/>
            </a:pPr>
            <a:r>
              <a:rPr lang="en-US" sz="1200" b="1" dirty="0">
                <a:solidFill>
                  <a:srgbClr val="8FA0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Unsupervised Gaussian Mixture Models classify refill behavior into 6 profiles: weekend skippers, cost drop-offs, erratic fills.</a:t>
            </a:r>
            <a:endParaRPr lang="en-US" sz="1200" b="1" dirty="0"/>
          </a:p>
        </p:txBody>
      </p:sp>
      <p:sp>
        <p:nvSpPr>
          <p:cNvPr id="16" name="Shape 13"/>
          <p:cNvSpPr/>
          <p:nvPr/>
        </p:nvSpPr>
        <p:spPr>
          <a:xfrm>
            <a:off x="6126480" y="1554480"/>
            <a:ext cx="2560320" cy="1783080"/>
          </a:xfrm>
          <a:prstGeom prst="roundRect">
            <a:avLst>
              <a:gd name="adj" fmla="val 3590"/>
            </a:avLst>
          </a:prstGeom>
          <a:solidFill>
            <a:srgbClr val="161E25"/>
          </a:solidFill>
          <a:ln w="12700">
            <a:solidFill>
              <a:srgbClr val="243039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8046720" y="16916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D9A44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03</a:t>
            </a:r>
            <a:endParaRPr lang="en-US" sz="1400" dirty="0"/>
          </a:p>
        </p:txBody>
      </p:sp>
      <p:sp>
        <p:nvSpPr>
          <p:cNvPr id="18" name="Text 15"/>
          <p:cNvSpPr txBox="1"/>
          <p:nvPr/>
        </p:nvSpPr>
        <p:spPr>
          <a:xfrm>
            <a:off x="6309360" y="1719072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8ED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Safe AI Abstention</a:t>
            </a:r>
            <a:endParaRPr lang="en-US" sz="1300" dirty="0"/>
          </a:p>
        </p:txBody>
      </p:sp>
      <p:sp>
        <p:nvSpPr>
          <p:cNvPr id="19" name="Shape 16"/>
          <p:cNvSpPr/>
          <p:nvPr/>
        </p:nvSpPr>
        <p:spPr>
          <a:xfrm>
            <a:off x="6309360" y="2084832"/>
            <a:ext cx="2194560" cy="0"/>
          </a:xfrm>
          <a:prstGeom prst="line">
            <a:avLst/>
          </a:prstGeom>
          <a:noFill/>
          <a:ln w="12700">
            <a:solidFill>
              <a:srgbClr val="243039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6309360" y="2150394"/>
            <a:ext cx="2194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50"/>
              </a:lnSpc>
              <a:buNone/>
            </a:pPr>
            <a:r>
              <a:rPr lang="en-US" sz="1200" b="1" dirty="0">
                <a:solidFill>
                  <a:srgbClr val="8FA0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Split-Conformal Prediction calculates strict confidence intervals. Abstains when data is sparse, refusing false guesses.</a:t>
            </a:r>
            <a:endParaRPr lang="en-US" sz="1200" b="1" dirty="0"/>
          </a:p>
        </p:txBody>
      </p:sp>
      <p:sp>
        <p:nvSpPr>
          <p:cNvPr id="21" name="Shape 18"/>
          <p:cNvSpPr/>
          <p:nvPr/>
        </p:nvSpPr>
        <p:spPr>
          <a:xfrm>
            <a:off x="8869680" y="1554480"/>
            <a:ext cx="2560320" cy="1783080"/>
          </a:xfrm>
          <a:prstGeom prst="roundRect">
            <a:avLst>
              <a:gd name="adj" fmla="val 3590"/>
            </a:avLst>
          </a:prstGeom>
          <a:solidFill>
            <a:srgbClr val="161E25"/>
          </a:solidFill>
          <a:ln w="12700">
            <a:solidFill>
              <a:srgbClr val="243039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10789920" y="16916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D9A44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04</a:t>
            </a:r>
            <a:endParaRPr lang="en-US" sz="1400" dirty="0"/>
          </a:p>
        </p:txBody>
      </p:sp>
      <p:sp>
        <p:nvSpPr>
          <p:cNvPr id="23" name="Text 20"/>
          <p:cNvSpPr txBox="1"/>
          <p:nvPr/>
        </p:nvSpPr>
        <p:spPr>
          <a:xfrm>
            <a:off x="9052560" y="1719072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8ED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EHR React Engine</a:t>
            </a:r>
            <a:endParaRPr lang="en-US" sz="1300" dirty="0"/>
          </a:p>
        </p:txBody>
      </p:sp>
      <p:sp>
        <p:nvSpPr>
          <p:cNvPr id="24" name="Shape 21"/>
          <p:cNvSpPr/>
          <p:nvPr/>
        </p:nvSpPr>
        <p:spPr>
          <a:xfrm>
            <a:off x="9052560" y="2084832"/>
            <a:ext cx="2194560" cy="0"/>
          </a:xfrm>
          <a:prstGeom prst="line">
            <a:avLst/>
          </a:prstGeom>
          <a:noFill/>
          <a:ln w="12700">
            <a:solidFill>
              <a:srgbClr val="243039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9052560" y="2150394"/>
            <a:ext cx="2194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50"/>
              </a:lnSpc>
              <a:buNone/>
            </a:pPr>
            <a:r>
              <a:rPr lang="en-US" sz="1200" b="1" dirty="0">
                <a:solidFill>
                  <a:srgbClr val="8FA0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on FHIR design, interactive Visx charts, offline execution, and CarePulse patient mobile companion preview.</a:t>
            </a:r>
            <a:endParaRPr lang="en-US" sz="1200" b="1" dirty="0"/>
          </a:p>
        </p:txBody>
      </p:sp>
      <p:sp>
        <p:nvSpPr>
          <p:cNvPr id="26" name="Shape 23"/>
          <p:cNvSpPr/>
          <p:nvPr/>
        </p:nvSpPr>
        <p:spPr>
          <a:xfrm>
            <a:off x="3200400" y="3543300"/>
            <a:ext cx="5669280" cy="2743200"/>
          </a:xfrm>
          <a:prstGeom prst="roundRect">
            <a:avLst>
              <a:gd name="adj" fmla="val 3000"/>
            </a:avLst>
          </a:prstGeom>
          <a:solidFill>
            <a:srgbClr val="0B0F13"/>
          </a:solidFill>
          <a:ln w="12700">
            <a:solidFill>
              <a:srgbClr val="243039"/>
            </a:solidFill>
            <a:prstDash val="solid"/>
          </a:ln>
          <a:effectLst>
            <a:outerShdw blurRad="228600" dist="762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27" name="Shape 24"/>
          <p:cNvSpPr/>
          <p:nvPr/>
        </p:nvSpPr>
        <p:spPr>
          <a:xfrm>
            <a:off x="3297936" y="3634740"/>
            <a:ext cx="82296" cy="82296"/>
          </a:xfrm>
          <a:prstGeom prst="ellipse">
            <a:avLst/>
          </a:prstGeom>
          <a:solidFill>
            <a:srgbClr val="E0637A"/>
          </a:solidFill>
          <a:ln/>
        </p:spPr>
      </p:sp>
      <p:sp>
        <p:nvSpPr>
          <p:cNvPr id="28" name="Shape 25"/>
          <p:cNvSpPr/>
          <p:nvPr/>
        </p:nvSpPr>
        <p:spPr>
          <a:xfrm>
            <a:off x="3480816" y="3634740"/>
            <a:ext cx="82296" cy="82296"/>
          </a:xfrm>
          <a:prstGeom prst="ellipse">
            <a:avLst/>
          </a:prstGeom>
          <a:solidFill>
            <a:srgbClr val="D9A441"/>
          </a:solidFill>
          <a:ln/>
        </p:spPr>
      </p:sp>
      <p:sp>
        <p:nvSpPr>
          <p:cNvPr id="29" name="Shape 26"/>
          <p:cNvSpPr/>
          <p:nvPr/>
        </p:nvSpPr>
        <p:spPr>
          <a:xfrm>
            <a:off x="3663696" y="3634740"/>
            <a:ext cx="82296" cy="82296"/>
          </a:xfrm>
          <a:prstGeom prst="ellipse">
            <a:avLst/>
          </a:prstGeom>
          <a:solidFill>
            <a:srgbClr val="6FBF8B"/>
          </a:solidFill>
          <a:ln/>
        </p:spPr>
      </p:sp>
      <p:sp>
        <p:nvSpPr>
          <p:cNvPr id="30" name="Text 27"/>
          <p:cNvSpPr txBox="1"/>
          <p:nvPr/>
        </p:nvSpPr>
        <p:spPr>
          <a:xfrm>
            <a:off x="3840479" y="3570732"/>
            <a:ext cx="5328271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8FA0A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RXPULSE.APP/CLINICAL-TIMELINE</a:t>
            </a:r>
            <a:endParaRPr lang="en-US" sz="900" dirty="0"/>
          </a:p>
        </p:txBody>
      </p:sp>
      <p:sp>
        <p:nvSpPr>
          <p:cNvPr id="32" name="Text 28"/>
          <p:cNvSpPr txBox="1"/>
          <p:nvPr/>
        </p:nvSpPr>
        <p:spPr>
          <a:xfrm>
            <a:off x="11002975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8FA0A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03 / 05</a:t>
            </a:r>
            <a:endParaRPr lang="en-US" sz="900" dirty="0"/>
          </a:p>
        </p:txBody>
      </p:sp>
      <p:sp>
        <p:nvSpPr>
          <p:cNvPr id="33" name="Text 29"/>
          <p:cNvSpPr txBox="1"/>
          <p:nvPr/>
        </p:nvSpPr>
        <p:spPr>
          <a:xfrm>
            <a:off x="640080" y="64465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8FA0A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RXPULSE</a:t>
            </a:r>
            <a:endParaRPr lang="en-US" sz="900" dirty="0"/>
          </a:p>
        </p:txBody>
      </p:sp>
      <p:pic>
        <p:nvPicPr>
          <p:cNvPr id="35" name="Picture 34">
            <a:extLst>
              <a:ext uri="{FF2B5EF4-FFF2-40B4-BE49-F238E27FC236}">
                <a16:creationId xmlns:a16="http://schemas.microsoft.com/office/drawing/2014/main" id="{267B6E15-8C95-6887-B1DF-B947FEFCDADE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152" b="1616"/>
          <a:stretch>
            <a:fillRect/>
          </a:stretch>
        </p:blipFill>
        <p:spPr>
          <a:xfrm>
            <a:off x="3248192" y="3836945"/>
            <a:ext cx="5586984" cy="2432303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E14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11480"/>
            <a:ext cx="457200" cy="457200"/>
          </a:xfrm>
          <a:prstGeom prst="ellipse">
            <a:avLst/>
          </a:prstGeom>
          <a:solidFill>
            <a:srgbClr val="D9A441"/>
          </a:solidFill>
          <a:ln/>
        </p:spPr>
      </p:sp>
      <p:pic>
        <p:nvPicPr>
          <p:cNvPr id="3" name="Image 0" descr="E:\Hackathons\manipal-hackathon\vanishing-dose\deck_assets\icons\shield_groun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9516" y="470916"/>
            <a:ext cx="338328" cy="338328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234440" y="5029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D9A44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VALIDATION, INTEGRATION &amp; CLINICAL SAFETY</a:t>
            </a:r>
            <a:endParaRPr lang="en-US" sz="11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91440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E8ED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Feasibility: Empirical Validation, Data Provenance &amp; Point-of-Care Safety</a:t>
            </a:r>
            <a:endParaRPr lang="en-US" sz="2300" dirty="0"/>
          </a:p>
        </p:txBody>
      </p:sp>
      <p:sp>
        <p:nvSpPr>
          <p:cNvPr id="6" name="Shape 3"/>
          <p:cNvSpPr/>
          <p:nvPr/>
        </p:nvSpPr>
        <p:spPr>
          <a:xfrm>
            <a:off x="640080" y="1600200"/>
            <a:ext cx="3429000" cy="2377439"/>
          </a:xfrm>
          <a:prstGeom prst="roundRect">
            <a:avLst>
              <a:gd name="adj" fmla="val 2059"/>
            </a:avLst>
          </a:prstGeom>
          <a:solidFill>
            <a:srgbClr val="161E25"/>
          </a:solidFill>
          <a:ln w="12700">
            <a:solidFill>
              <a:srgbClr val="243039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868680" y="1828800"/>
            <a:ext cx="438912" cy="438912"/>
          </a:xfrm>
          <a:prstGeom prst="ellipse">
            <a:avLst/>
          </a:prstGeom>
          <a:solidFill>
            <a:srgbClr val="D9A441"/>
          </a:solidFill>
          <a:ln/>
        </p:spPr>
      </p:sp>
      <p:pic>
        <p:nvPicPr>
          <p:cNvPr id="8" name="Image 1" descr="E:\Hackathons\manipal-hackathon\vanishing-dose\deck_assets\icons\trend_groun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5739" y="1885859"/>
            <a:ext cx="324795" cy="324795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417320" y="1856232"/>
            <a:ext cx="2514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300" b="1" dirty="0">
                <a:solidFill>
                  <a:srgbClr val="E8ED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Statistical Power &amp; Validation</a:t>
            </a:r>
            <a:endParaRPr lang="en-US" sz="1300" dirty="0"/>
          </a:p>
        </p:txBody>
      </p:sp>
      <p:sp>
        <p:nvSpPr>
          <p:cNvPr id="10" name="Shape 6"/>
          <p:cNvSpPr/>
          <p:nvPr/>
        </p:nvSpPr>
        <p:spPr>
          <a:xfrm>
            <a:off x="868680" y="2377440"/>
            <a:ext cx="2971800" cy="0"/>
          </a:xfrm>
          <a:prstGeom prst="line">
            <a:avLst/>
          </a:prstGeom>
          <a:noFill/>
          <a:ln w="12700">
            <a:solidFill>
              <a:srgbClr val="243039"/>
            </a:solidFill>
            <a:prstDash val="solid"/>
          </a:ln>
        </p:spPr>
      </p:sp>
      <p:sp>
        <p:nvSpPr>
          <p:cNvPr id="11" name="Text 7"/>
          <p:cNvSpPr txBox="1"/>
          <p:nvPr/>
        </p:nvSpPr>
        <p:spPr>
          <a:xfrm>
            <a:off x="868680" y="2496312"/>
            <a:ext cx="2971800" cy="1342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50"/>
              </a:lnSpc>
              <a:buNone/>
            </a:pPr>
            <a:r>
              <a:rPr lang="en-US" sz="11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Independent validation harness running 40 replicate synthetic cohorts with 2 noise levels. Reaches 80% power at 1.3 percentage point effect size. Predicted coverage tightly tracks realized diagonal.</a:t>
            </a:r>
            <a:endParaRPr lang="en-US" sz="1100" b="1" dirty="0">
              <a:solidFill>
                <a:schemeClr val="bg1"/>
              </a:solidFill>
            </a:endParaRPr>
          </a:p>
        </p:txBody>
      </p:sp>
      <p:sp>
        <p:nvSpPr>
          <p:cNvPr id="12" name="Shape 8"/>
          <p:cNvSpPr/>
          <p:nvPr/>
        </p:nvSpPr>
        <p:spPr>
          <a:xfrm>
            <a:off x="4361688" y="1600200"/>
            <a:ext cx="3429000" cy="2377439"/>
          </a:xfrm>
          <a:prstGeom prst="roundRect">
            <a:avLst>
              <a:gd name="adj" fmla="val 2059"/>
            </a:avLst>
          </a:prstGeom>
          <a:solidFill>
            <a:srgbClr val="161E25"/>
          </a:solidFill>
          <a:ln w="12700">
            <a:solidFill>
              <a:srgbClr val="243039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4590288" y="1828800"/>
            <a:ext cx="438912" cy="438912"/>
          </a:xfrm>
          <a:prstGeom prst="ellipse">
            <a:avLst/>
          </a:prstGeom>
          <a:solidFill>
            <a:srgbClr val="D9A441"/>
          </a:solidFill>
          <a:ln/>
        </p:spPr>
      </p:sp>
      <p:pic>
        <p:nvPicPr>
          <p:cNvPr id="14" name="Image 2" descr="E:\Hackathons\manipal-hackathon\vanishing-dose\deck_assets\icons\database_groun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47347" y="1885859"/>
            <a:ext cx="324795" cy="324795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5138928" y="1856232"/>
            <a:ext cx="2514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300" b="1" dirty="0">
                <a:solidFill>
                  <a:srgbClr val="E8ED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Data Provenance &amp; CMS Analysis</a:t>
            </a:r>
            <a:endParaRPr lang="en-US" sz="1300" dirty="0"/>
          </a:p>
        </p:txBody>
      </p:sp>
      <p:sp>
        <p:nvSpPr>
          <p:cNvPr id="16" name="Shape 11"/>
          <p:cNvSpPr/>
          <p:nvPr/>
        </p:nvSpPr>
        <p:spPr>
          <a:xfrm>
            <a:off x="4590288" y="2377440"/>
            <a:ext cx="2971800" cy="0"/>
          </a:xfrm>
          <a:prstGeom prst="line">
            <a:avLst/>
          </a:prstGeom>
          <a:noFill/>
          <a:ln w="12700">
            <a:solidFill>
              <a:srgbClr val="243039"/>
            </a:solidFill>
            <a:prstDash val="solid"/>
          </a:ln>
        </p:spPr>
      </p:sp>
      <p:sp>
        <p:nvSpPr>
          <p:cNvPr id="17" name="Text 12"/>
          <p:cNvSpPr txBox="1"/>
          <p:nvPr/>
        </p:nvSpPr>
        <p:spPr>
          <a:xfrm>
            <a:off x="4590288" y="2496312"/>
            <a:ext cx="2971800" cy="13424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50"/>
              </a:lnSpc>
              <a:buNone/>
            </a:pPr>
            <a:r>
              <a:rPr lang="en-US" sz="11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Evaluated on real CMS DE-SynPUF Medicare claims (5,237 continuous beneficiaries, 6,286 pairs). Explicit provenance tags (measured, derived, simulated) disclose CMS privacy perturbation (+0.0 pp measured lift).</a:t>
            </a:r>
            <a:endParaRPr lang="en-US" sz="1100" b="1" dirty="0">
              <a:solidFill>
                <a:schemeClr val="bg1"/>
              </a:solidFill>
            </a:endParaRPr>
          </a:p>
        </p:txBody>
      </p:sp>
      <p:sp>
        <p:nvSpPr>
          <p:cNvPr id="18" name="Shape 13"/>
          <p:cNvSpPr/>
          <p:nvPr/>
        </p:nvSpPr>
        <p:spPr>
          <a:xfrm>
            <a:off x="8083296" y="1600200"/>
            <a:ext cx="3429000" cy="2377439"/>
          </a:xfrm>
          <a:prstGeom prst="roundRect">
            <a:avLst>
              <a:gd name="adj" fmla="val 2059"/>
            </a:avLst>
          </a:prstGeom>
          <a:solidFill>
            <a:srgbClr val="161E25"/>
          </a:solidFill>
          <a:ln w="12700">
            <a:solidFill>
              <a:srgbClr val="243039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8311896" y="1828800"/>
            <a:ext cx="438912" cy="438912"/>
          </a:xfrm>
          <a:prstGeom prst="ellipse">
            <a:avLst/>
          </a:prstGeom>
          <a:solidFill>
            <a:srgbClr val="D9A441"/>
          </a:solidFill>
          <a:ln/>
        </p:spPr>
      </p:sp>
      <p:pic>
        <p:nvPicPr>
          <p:cNvPr id="20" name="Image 3" descr="E:\Hackathons\manipal-hackathon\vanishing-dose\deck_assets\icons\lock_groun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68955" y="1885859"/>
            <a:ext cx="324795" cy="324795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8860536" y="1856232"/>
            <a:ext cx="2514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300" b="1" dirty="0">
                <a:solidFill>
                  <a:srgbClr val="E8ED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EHR Safety &amp; Offline Runtime</a:t>
            </a:r>
            <a:endParaRPr lang="en-US" sz="1300" dirty="0"/>
          </a:p>
        </p:txBody>
      </p:sp>
      <p:sp>
        <p:nvSpPr>
          <p:cNvPr id="22" name="Shape 16"/>
          <p:cNvSpPr/>
          <p:nvPr/>
        </p:nvSpPr>
        <p:spPr>
          <a:xfrm>
            <a:off x="8311896" y="2377440"/>
            <a:ext cx="2971800" cy="0"/>
          </a:xfrm>
          <a:prstGeom prst="line">
            <a:avLst/>
          </a:prstGeom>
          <a:noFill/>
          <a:ln w="12700">
            <a:solidFill>
              <a:srgbClr val="243039"/>
            </a:solidFill>
            <a:prstDash val="solid"/>
          </a:ln>
        </p:spPr>
      </p:sp>
      <p:sp>
        <p:nvSpPr>
          <p:cNvPr id="23" name="Text 17"/>
          <p:cNvSpPr txBox="1"/>
          <p:nvPr/>
        </p:nvSpPr>
        <p:spPr>
          <a:xfrm>
            <a:off x="8311896" y="2496312"/>
            <a:ext cx="2971800" cy="13424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50"/>
              </a:lnSpc>
              <a:buNone/>
            </a:pPr>
            <a:r>
              <a:rPr lang="en-US" sz="11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offline runtime execution with zero external API calls at point of care. Deterministic, seeded pipeline guarantees byte-identical results. Non-accusatory doctor conversation tips integrated into EHR.</a:t>
            </a:r>
            <a:endParaRPr lang="en-US" sz="1100" b="1" dirty="0">
              <a:solidFill>
                <a:schemeClr val="bg1"/>
              </a:solidFill>
            </a:endParaRPr>
          </a:p>
        </p:txBody>
      </p:sp>
      <p:sp>
        <p:nvSpPr>
          <p:cNvPr id="24" name="Shape 18"/>
          <p:cNvSpPr/>
          <p:nvPr/>
        </p:nvSpPr>
        <p:spPr>
          <a:xfrm>
            <a:off x="640080" y="4500778"/>
            <a:ext cx="3429000" cy="1579982"/>
          </a:xfrm>
          <a:prstGeom prst="roundRect">
            <a:avLst>
              <a:gd name="adj" fmla="val 4615"/>
            </a:avLst>
          </a:prstGeom>
          <a:solidFill>
            <a:srgbClr val="161E25"/>
          </a:solidFill>
          <a:ln w="12700">
            <a:solidFill>
              <a:srgbClr val="243039"/>
            </a:solidFill>
            <a:prstDash val="solid"/>
          </a:ln>
        </p:spPr>
      </p:sp>
      <p:sp>
        <p:nvSpPr>
          <p:cNvPr id="25" name="Text 19"/>
          <p:cNvSpPr txBox="1"/>
          <p:nvPr/>
        </p:nvSpPr>
        <p:spPr>
          <a:xfrm>
            <a:off x="822960" y="4621436"/>
            <a:ext cx="3063240" cy="5349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D9A44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80% Power</a:t>
            </a:r>
            <a:endParaRPr lang="en-US" sz="2400" dirty="0"/>
          </a:p>
        </p:txBody>
      </p:sp>
      <p:sp>
        <p:nvSpPr>
          <p:cNvPr id="26" name="Text 20"/>
          <p:cNvSpPr txBox="1"/>
          <p:nvPr/>
        </p:nvSpPr>
        <p:spPr>
          <a:xfrm>
            <a:off x="813413" y="5260267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E8ED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Validated Effect Sensitivity</a:t>
            </a:r>
            <a:endParaRPr lang="en-US" sz="1150" dirty="0"/>
          </a:p>
        </p:txBody>
      </p:sp>
      <p:sp>
        <p:nvSpPr>
          <p:cNvPr id="27" name="Text 21"/>
          <p:cNvSpPr txBox="1"/>
          <p:nvPr/>
        </p:nvSpPr>
        <p:spPr>
          <a:xfrm>
            <a:off x="822960" y="5701110"/>
            <a:ext cx="306324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FA0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1.3 pp true pre-visit surge effect</a:t>
            </a:r>
            <a:endParaRPr lang="en-US" sz="950" dirty="0"/>
          </a:p>
        </p:txBody>
      </p:sp>
      <p:sp>
        <p:nvSpPr>
          <p:cNvPr id="28" name="Shape 22"/>
          <p:cNvSpPr/>
          <p:nvPr/>
        </p:nvSpPr>
        <p:spPr>
          <a:xfrm>
            <a:off x="4361688" y="4500778"/>
            <a:ext cx="3429000" cy="1579982"/>
          </a:xfrm>
          <a:prstGeom prst="roundRect">
            <a:avLst>
              <a:gd name="adj" fmla="val 4615"/>
            </a:avLst>
          </a:prstGeom>
          <a:solidFill>
            <a:srgbClr val="161E25"/>
          </a:solidFill>
          <a:ln w="12700">
            <a:solidFill>
              <a:srgbClr val="243039"/>
            </a:solidFill>
            <a:prstDash val="solid"/>
          </a:ln>
        </p:spPr>
      </p:sp>
      <p:sp>
        <p:nvSpPr>
          <p:cNvPr id="29" name="Text 23"/>
          <p:cNvSpPr txBox="1"/>
          <p:nvPr/>
        </p:nvSpPr>
        <p:spPr>
          <a:xfrm>
            <a:off x="4564380" y="4617344"/>
            <a:ext cx="3063240" cy="5349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D9A44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5,237</a:t>
            </a:r>
            <a:endParaRPr lang="en-US" sz="2400" dirty="0"/>
          </a:p>
        </p:txBody>
      </p:sp>
      <p:sp>
        <p:nvSpPr>
          <p:cNvPr id="30" name="Text 24"/>
          <p:cNvSpPr txBox="1"/>
          <p:nvPr/>
        </p:nvSpPr>
        <p:spPr>
          <a:xfrm>
            <a:off x="4544568" y="5292808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E8ED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Medicare Cohort Beneficiaries</a:t>
            </a:r>
            <a:endParaRPr lang="en-US" sz="1150" dirty="0"/>
          </a:p>
        </p:txBody>
      </p:sp>
      <p:sp>
        <p:nvSpPr>
          <p:cNvPr id="31" name="Text 25"/>
          <p:cNvSpPr txBox="1"/>
          <p:nvPr/>
        </p:nvSpPr>
        <p:spPr>
          <a:xfrm>
            <a:off x="4544568" y="5706892"/>
            <a:ext cx="306324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FA0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CMS DE-SynPUF continuous Medicare study</a:t>
            </a:r>
            <a:endParaRPr lang="en-US" sz="950" dirty="0"/>
          </a:p>
        </p:txBody>
      </p:sp>
      <p:sp>
        <p:nvSpPr>
          <p:cNvPr id="32" name="Shape 26"/>
          <p:cNvSpPr/>
          <p:nvPr/>
        </p:nvSpPr>
        <p:spPr>
          <a:xfrm>
            <a:off x="8083296" y="4500778"/>
            <a:ext cx="3429000" cy="1579982"/>
          </a:xfrm>
          <a:prstGeom prst="roundRect">
            <a:avLst>
              <a:gd name="adj" fmla="val 4615"/>
            </a:avLst>
          </a:prstGeom>
          <a:solidFill>
            <a:srgbClr val="161E25"/>
          </a:solidFill>
          <a:ln w="12700">
            <a:solidFill>
              <a:srgbClr val="243039"/>
            </a:solidFill>
            <a:prstDash val="solid"/>
          </a:ln>
        </p:spPr>
      </p:sp>
      <p:sp>
        <p:nvSpPr>
          <p:cNvPr id="33" name="Text 27"/>
          <p:cNvSpPr txBox="1"/>
          <p:nvPr/>
        </p:nvSpPr>
        <p:spPr>
          <a:xfrm>
            <a:off x="8266176" y="4620829"/>
            <a:ext cx="3063240" cy="5349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D9A44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 API Calls</a:t>
            </a:r>
            <a:endParaRPr lang="en-US" sz="2400" dirty="0"/>
          </a:p>
        </p:txBody>
      </p:sp>
      <p:sp>
        <p:nvSpPr>
          <p:cNvPr id="34" name="Text 28"/>
          <p:cNvSpPr txBox="1"/>
          <p:nvPr/>
        </p:nvSpPr>
        <p:spPr>
          <a:xfrm>
            <a:off x="8266176" y="5324348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E8ED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 EHR Clinical Safety</a:t>
            </a:r>
            <a:endParaRPr lang="en-US" sz="1150" dirty="0"/>
          </a:p>
        </p:txBody>
      </p:sp>
      <p:sp>
        <p:nvSpPr>
          <p:cNvPr id="35" name="Text 29"/>
          <p:cNvSpPr txBox="1"/>
          <p:nvPr/>
        </p:nvSpPr>
        <p:spPr>
          <a:xfrm>
            <a:off x="8266176" y="5726836"/>
            <a:ext cx="306324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FA0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network dependencies at point of care</a:t>
            </a:r>
            <a:endParaRPr lang="en-US" sz="950" dirty="0"/>
          </a:p>
        </p:txBody>
      </p:sp>
      <p:sp>
        <p:nvSpPr>
          <p:cNvPr id="36" name="Text 30"/>
          <p:cNvSpPr txBox="1"/>
          <p:nvPr/>
        </p:nvSpPr>
        <p:spPr>
          <a:xfrm>
            <a:off x="11002975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8FA0A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04 / 05</a:t>
            </a:r>
            <a:endParaRPr lang="en-US" sz="900" dirty="0"/>
          </a:p>
        </p:txBody>
      </p:sp>
      <p:sp>
        <p:nvSpPr>
          <p:cNvPr id="37" name="Text 31"/>
          <p:cNvSpPr txBox="1"/>
          <p:nvPr/>
        </p:nvSpPr>
        <p:spPr>
          <a:xfrm>
            <a:off x="640080" y="64465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8FA0A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RXPULSE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E14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11480"/>
            <a:ext cx="457200" cy="457200"/>
          </a:xfrm>
          <a:prstGeom prst="ellipse">
            <a:avLst/>
          </a:prstGeom>
          <a:solidFill>
            <a:srgbClr val="D9A441"/>
          </a:solidFill>
          <a:ln/>
        </p:spPr>
      </p:sp>
      <p:pic>
        <p:nvPicPr>
          <p:cNvPr id="3" name="Image 0" descr="E:\Hackathons\manipal-hackathon\vanishing-dose\deck_assets\icons\package_groun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9516" y="470916"/>
            <a:ext cx="338328" cy="338328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234440" y="5029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D9A44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VALUE-BASED CARE, ROI &amp; SCALING ROADMAP</a:t>
            </a:r>
            <a:endParaRPr lang="en-US" sz="11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91440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E8ED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Business Strategy: Unlocking Value-Based Care Savings &amp; EHR Integration</a:t>
            </a:r>
            <a:endParaRPr lang="en-US" sz="2300" dirty="0"/>
          </a:p>
        </p:txBody>
      </p:sp>
      <p:sp>
        <p:nvSpPr>
          <p:cNvPr id="6" name="Shape 3"/>
          <p:cNvSpPr/>
          <p:nvPr/>
        </p:nvSpPr>
        <p:spPr>
          <a:xfrm>
            <a:off x="640080" y="1600200"/>
            <a:ext cx="3429000" cy="2304288"/>
          </a:xfrm>
          <a:prstGeom prst="roundRect">
            <a:avLst>
              <a:gd name="adj" fmla="val 2154"/>
            </a:avLst>
          </a:prstGeom>
          <a:solidFill>
            <a:srgbClr val="161E25"/>
          </a:solidFill>
          <a:ln w="12700">
            <a:solidFill>
              <a:srgbClr val="243039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868680" y="1828800"/>
            <a:ext cx="438912" cy="438912"/>
          </a:xfrm>
          <a:prstGeom prst="ellipse">
            <a:avLst/>
          </a:prstGeom>
          <a:solidFill>
            <a:srgbClr val="D9A441"/>
          </a:solidFill>
          <a:ln/>
        </p:spPr>
      </p:sp>
      <p:pic>
        <p:nvPicPr>
          <p:cNvPr id="8" name="Image 1" descr="E:\Hackathons\manipal-hackathon\vanishing-dose\deck_assets\icons\pie_groun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5739" y="1885859"/>
            <a:ext cx="324795" cy="324795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417320" y="1856232"/>
            <a:ext cx="2514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300" b="1" dirty="0">
                <a:solidFill>
                  <a:srgbClr val="E8ED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Value-Based Care &amp; Hospital ROI</a:t>
            </a:r>
            <a:endParaRPr lang="en-US" sz="1300" dirty="0"/>
          </a:p>
        </p:txBody>
      </p:sp>
      <p:sp>
        <p:nvSpPr>
          <p:cNvPr id="10" name="Shape 6"/>
          <p:cNvSpPr/>
          <p:nvPr/>
        </p:nvSpPr>
        <p:spPr>
          <a:xfrm>
            <a:off x="868680" y="2377440"/>
            <a:ext cx="2971800" cy="0"/>
          </a:xfrm>
          <a:prstGeom prst="line">
            <a:avLst/>
          </a:prstGeom>
          <a:noFill/>
          <a:ln w="12700">
            <a:solidFill>
              <a:srgbClr val="243039"/>
            </a:solidFill>
            <a:prstDash val="solid"/>
          </a:ln>
        </p:spPr>
      </p:sp>
      <p:sp>
        <p:nvSpPr>
          <p:cNvPr id="11" name="Text 7"/>
          <p:cNvSpPr txBox="1"/>
          <p:nvPr/>
        </p:nvSpPr>
        <p:spPr>
          <a:xfrm>
            <a:off x="868680" y="2408150"/>
            <a:ext cx="2971800" cy="13855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450"/>
              </a:lnSpc>
              <a:buSzPct val="100000"/>
              <a:buFont typeface="+mj-lt"/>
              <a:buAutoNum type="arabicPeriod"/>
            </a:pPr>
            <a:r>
              <a:rPr lang="en-US" sz="105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Prevents costly acute ER admissions caused by post-surge hypotension.</a:t>
            </a:r>
            <a:endParaRPr lang="en-US" sz="1050" b="1" dirty="0">
              <a:solidFill>
                <a:schemeClr val="bg1"/>
              </a:solidFill>
            </a:endParaRPr>
          </a:p>
          <a:p>
            <a:pPr marL="342900" indent="-342900">
              <a:lnSpc>
                <a:spcPts val="1450"/>
              </a:lnSpc>
              <a:buSzPct val="100000"/>
              <a:buFont typeface="+mj-lt"/>
              <a:buAutoNum type="arabicPeriod"/>
            </a:pPr>
            <a:r>
              <a:rPr lang="en-US" sz="105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Avoids CMS Hospital Readmissions Reduction Program (HRRP) penalties.</a:t>
            </a:r>
            <a:endParaRPr lang="en-US" sz="1050" b="1" dirty="0">
              <a:solidFill>
                <a:schemeClr val="bg1"/>
              </a:solidFill>
            </a:endParaRPr>
          </a:p>
          <a:p>
            <a:pPr marL="342900" indent="-342900">
              <a:lnSpc>
                <a:spcPts val="1450"/>
              </a:lnSpc>
              <a:buSzPct val="100000"/>
              <a:buFont typeface="+mj-lt"/>
              <a:buAutoNum type="arabicPeriod"/>
            </a:pPr>
            <a:r>
              <a:rPr lang="en-US" sz="105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Boosts HEDIS medication adherence quality scores for Medicare Advantage plans.</a:t>
            </a:r>
            <a:endParaRPr lang="en-US" sz="1050" b="1" dirty="0">
              <a:solidFill>
                <a:schemeClr val="bg1"/>
              </a:solidFill>
            </a:endParaRPr>
          </a:p>
        </p:txBody>
      </p:sp>
      <p:sp>
        <p:nvSpPr>
          <p:cNvPr id="12" name="Shape 8"/>
          <p:cNvSpPr/>
          <p:nvPr/>
        </p:nvSpPr>
        <p:spPr>
          <a:xfrm>
            <a:off x="4361688" y="1600200"/>
            <a:ext cx="3429000" cy="2304288"/>
          </a:xfrm>
          <a:prstGeom prst="roundRect">
            <a:avLst>
              <a:gd name="adj" fmla="val 2154"/>
            </a:avLst>
          </a:prstGeom>
          <a:solidFill>
            <a:srgbClr val="161E25"/>
          </a:solidFill>
          <a:ln w="12700">
            <a:solidFill>
              <a:srgbClr val="243039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4590288" y="1828800"/>
            <a:ext cx="438912" cy="438912"/>
          </a:xfrm>
          <a:prstGeom prst="ellipse">
            <a:avLst/>
          </a:prstGeom>
          <a:solidFill>
            <a:srgbClr val="D9A441"/>
          </a:solidFill>
          <a:ln/>
        </p:spPr>
      </p:sp>
      <p:pic>
        <p:nvPicPr>
          <p:cNvPr id="14" name="Image 2" descr="E:\Hackathons\manipal-hackathon\vanishing-dose\deck_assets\icons\clipboard_groun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47347" y="1885859"/>
            <a:ext cx="324795" cy="324795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5138928" y="1856232"/>
            <a:ext cx="2514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300" b="1" dirty="0">
                <a:solidFill>
                  <a:srgbClr val="E8ED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Point-of-Care EHR Integration</a:t>
            </a:r>
            <a:endParaRPr lang="en-US" sz="1300" dirty="0"/>
          </a:p>
        </p:txBody>
      </p:sp>
      <p:sp>
        <p:nvSpPr>
          <p:cNvPr id="16" name="Shape 11"/>
          <p:cNvSpPr/>
          <p:nvPr/>
        </p:nvSpPr>
        <p:spPr>
          <a:xfrm>
            <a:off x="4590288" y="2377440"/>
            <a:ext cx="2971800" cy="0"/>
          </a:xfrm>
          <a:prstGeom prst="line">
            <a:avLst/>
          </a:prstGeom>
          <a:noFill/>
          <a:ln w="12700">
            <a:solidFill>
              <a:srgbClr val="243039"/>
            </a:solidFill>
            <a:prstDash val="solid"/>
          </a:ln>
        </p:spPr>
      </p:sp>
      <p:sp>
        <p:nvSpPr>
          <p:cNvPr id="17" name="Text 12"/>
          <p:cNvSpPr txBox="1"/>
          <p:nvPr/>
        </p:nvSpPr>
        <p:spPr>
          <a:xfrm>
            <a:off x="4590288" y="2377439"/>
            <a:ext cx="2971800" cy="15475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450"/>
              </a:lnSpc>
              <a:buSzPct val="100000"/>
              <a:buFont typeface="+mj-lt"/>
              <a:buAutoNum type="arabicPeriod"/>
            </a:pPr>
            <a:r>
              <a:rPr lang="en-US" sz="105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on FHIR plugin architecture for Epic, Cerner, and Athenahealth.</a:t>
            </a:r>
            <a:endParaRPr lang="en-US" sz="1050" b="1" dirty="0">
              <a:solidFill>
                <a:schemeClr val="bg1"/>
              </a:solidFill>
            </a:endParaRPr>
          </a:p>
          <a:p>
            <a:pPr marL="342900" indent="-342900">
              <a:lnSpc>
                <a:spcPts val="1450"/>
              </a:lnSpc>
              <a:buSzPct val="100000"/>
              <a:buFont typeface="+mj-lt"/>
              <a:buAutoNum type="arabicPeriod"/>
            </a:pPr>
            <a:r>
              <a:rPr lang="en-US" sz="105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1-click doctor clinical action suite: Maintain dose, ship smart pill caps, or issue co-pay cards.</a:t>
            </a:r>
            <a:endParaRPr lang="en-US" sz="1050" b="1" dirty="0">
              <a:solidFill>
                <a:schemeClr val="bg1"/>
              </a:solidFill>
            </a:endParaRPr>
          </a:p>
          <a:p>
            <a:pPr marL="342900" indent="-342900">
              <a:lnSpc>
                <a:spcPts val="1450"/>
              </a:lnSpc>
              <a:buSzPct val="100000"/>
              <a:buFont typeface="+mj-lt"/>
              <a:buAutoNum type="arabicPeriod"/>
            </a:pPr>
            <a:r>
              <a:rPr lang="en-US" sz="105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non-accusatory progress note insertion directly into EHR records.</a:t>
            </a:r>
            <a:endParaRPr lang="en-US" sz="1050" b="1" dirty="0">
              <a:solidFill>
                <a:schemeClr val="bg1"/>
              </a:solidFill>
            </a:endParaRPr>
          </a:p>
        </p:txBody>
      </p:sp>
      <p:sp>
        <p:nvSpPr>
          <p:cNvPr id="18" name="Shape 13"/>
          <p:cNvSpPr/>
          <p:nvPr/>
        </p:nvSpPr>
        <p:spPr>
          <a:xfrm>
            <a:off x="8083296" y="1600200"/>
            <a:ext cx="3429000" cy="2324814"/>
          </a:xfrm>
          <a:prstGeom prst="roundRect">
            <a:avLst>
              <a:gd name="adj" fmla="val 2154"/>
            </a:avLst>
          </a:prstGeom>
          <a:solidFill>
            <a:srgbClr val="161E25"/>
          </a:solidFill>
          <a:ln w="12700">
            <a:solidFill>
              <a:srgbClr val="243039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8311896" y="1828800"/>
            <a:ext cx="438912" cy="438912"/>
          </a:xfrm>
          <a:prstGeom prst="ellipse">
            <a:avLst/>
          </a:prstGeom>
          <a:solidFill>
            <a:srgbClr val="D9A441"/>
          </a:solidFill>
          <a:ln/>
        </p:spPr>
      </p:sp>
      <p:pic>
        <p:nvPicPr>
          <p:cNvPr id="20" name="Image 3" descr="E:\Hackathons\manipal-hackathon\vanishing-dose\deck_assets\icons\activity_groun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68955" y="1885859"/>
            <a:ext cx="324795" cy="324795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8860536" y="1856232"/>
            <a:ext cx="2514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300" b="1" dirty="0">
                <a:solidFill>
                  <a:srgbClr val="E8ED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Commercial Scaling Roadmap</a:t>
            </a:r>
            <a:endParaRPr lang="en-US" sz="1300" dirty="0"/>
          </a:p>
        </p:txBody>
      </p:sp>
      <p:sp>
        <p:nvSpPr>
          <p:cNvPr id="22" name="Shape 16"/>
          <p:cNvSpPr/>
          <p:nvPr/>
        </p:nvSpPr>
        <p:spPr>
          <a:xfrm>
            <a:off x="8311896" y="2377440"/>
            <a:ext cx="2971800" cy="0"/>
          </a:xfrm>
          <a:prstGeom prst="line">
            <a:avLst/>
          </a:prstGeom>
          <a:noFill/>
          <a:ln w="12700">
            <a:solidFill>
              <a:srgbClr val="243039"/>
            </a:solidFill>
            <a:prstDash val="solid"/>
          </a:ln>
        </p:spPr>
      </p:sp>
      <p:sp>
        <p:nvSpPr>
          <p:cNvPr id="23" name="Text 17"/>
          <p:cNvSpPr txBox="1"/>
          <p:nvPr/>
        </p:nvSpPr>
        <p:spPr>
          <a:xfrm>
            <a:off x="8311896" y="2375154"/>
            <a:ext cx="2971800" cy="14185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450"/>
              </a:lnSpc>
              <a:buSzPct val="100000"/>
              <a:buFont typeface="+mj-lt"/>
              <a:buAutoNum type="arabicPeriod"/>
            </a:pPr>
            <a:r>
              <a:rPr lang="en-US" sz="105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1: Hospital EHR plugin + CarePulse patient mobile app launch.</a:t>
            </a:r>
            <a:endParaRPr lang="en-US" sz="1050" b="1" dirty="0">
              <a:solidFill>
                <a:schemeClr val="bg1"/>
              </a:solidFill>
            </a:endParaRPr>
          </a:p>
          <a:p>
            <a:pPr marL="342900" indent="-342900">
              <a:lnSpc>
                <a:spcPts val="1450"/>
              </a:lnSpc>
              <a:buSzPct val="100000"/>
              <a:buFont typeface="+mj-lt"/>
              <a:buAutoNum type="arabicPeriod"/>
            </a:pPr>
            <a:r>
              <a:rPr lang="en-US" sz="105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2: Health system enterprise licensing &amp; PBM risk-sharing partnerships.</a:t>
            </a:r>
            <a:endParaRPr lang="en-US" sz="1050" b="1" dirty="0">
              <a:solidFill>
                <a:schemeClr val="bg1"/>
              </a:solidFill>
            </a:endParaRPr>
          </a:p>
          <a:p>
            <a:pPr marL="342900" indent="-342900">
              <a:lnSpc>
                <a:spcPts val="1450"/>
              </a:lnSpc>
              <a:buSzPct val="100000"/>
              <a:buFont typeface="+mj-lt"/>
              <a:buAutoNum type="arabicPeriod"/>
            </a:pPr>
            <a:r>
              <a:rPr lang="en-US" sz="105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3: Native wearable telemetry API (Apple HealthKit &amp; Google Health Connect).</a:t>
            </a:r>
            <a:endParaRPr lang="en-US" sz="1050" b="1" dirty="0">
              <a:solidFill>
                <a:schemeClr val="bg1"/>
              </a:solidFill>
            </a:endParaRPr>
          </a:p>
        </p:txBody>
      </p:sp>
      <p:pic>
        <p:nvPicPr>
          <p:cNvPr id="24" name="Image 4" descr="E:\Hackathons\manipal-hackathon\vanishing-dose\presentation_charts\slide5_hospital_roi_savings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0080" y="4041648"/>
            <a:ext cx="5303520" cy="2267712"/>
          </a:xfrm>
          <a:prstGeom prst="rect">
            <a:avLst/>
          </a:prstGeom>
        </p:spPr>
      </p:pic>
      <p:sp>
        <p:nvSpPr>
          <p:cNvPr id="25" name="Shape 18"/>
          <p:cNvSpPr/>
          <p:nvPr/>
        </p:nvSpPr>
        <p:spPr>
          <a:xfrm>
            <a:off x="6172200" y="4709160"/>
            <a:ext cx="2606040" cy="1600200"/>
          </a:xfrm>
          <a:prstGeom prst="roundRect">
            <a:avLst>
              <a:gd name="adj" fmla="val 3429"/>
            </a:avLst>
          </a:prstGeom>
          <a:solidFill>
            <a:srgbClr val="161E25"/>
          </a:solidFill>
          <a:ln w="12700">
            <a:solidFill>
              <a:srgbClr val="243039"/>
            </a:solidFill>
            <a:prstDash val="solid"/>
          </a:ln>
        </p:spPr>
      </p:sp>
      <p:sp>
        <p:nvSpPr>
          <p:cNvPr id="26" name="Text 19"/>
          <p:cNvSpPr txBox="1"/>
          <p:nvPr/>
        </p:nvSpPr>
        <p:spPr>
          <a:xfrm>
            <a:off x="6355080" y="4818888"/>
            <a:ext cx="2240280" cy="7200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6FBF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$2.4M</a:t>
            </a:r>
            <a:endParaRPr lang="en-US" sz="2400" dirty="0"/>
          </a:p>
        </p:txBody>
      </p:sp>
      <p:sp>
        <p:nvSpPr>
          <p:cNvPr id="27" name="Text 20"/>
          <p:cNvSpPr txBox="1"/>
          <p:nvPr/>
        </p:nvSpPr>
        <p:spPr>
          <a:xfrm>
            <a:off x="6355080" y="5541264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E8ED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Hospital Savings</a:t>
            </a:r>
            <a:endParaRPr lang="en-US" sz="1150" dirty="0"/>
          </a:p>
        </p:txBody>
      </p:sp>
      <p:sp>
        <p:nvSpPr>
          <p:cNvPr id="28" name="Text 21"/>
          <p:cNvSpPr txBox="1"/>
          <p:nvPr/>
        </p:nvSpPr>
        <p:spPr>
          <a:xfrm>
            <a:off x="6355080" y="5797296"/>
            <a:ext cx="224028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FA0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10,000 covered lives</a:t>
            </a:r>
            <a:endParaRPr lang="en-US" sz="950" dirty="0"/>
          </a:p>
        </p:txBody>
      </p:sp>
      <p:sp>
        <p:nvSpPr>
          <p:cNvPr id="29" name="Shape 22"/>
          <p:cNvSpPr/>
          <p:nvPr/>
        </p:nvSpPr>
        <p:spPr>
          <a:xfrm>
            <a:off x="8961120" y="4709160"/>
            <a:ext cx="2560320" cy="1600200"/>
          </a:xfrm>
          <a:prstGeom prst="roundRect">
            <a:avLst>
              <a:gd name="adj" fmla="val 3429"/>
            </a:avLst>
          </a:prstGeom>
          <a:solidFill>
            <a:srgbClr val="161E25"/>
          </a:solidFill>
          <a:ln w="12700">
            <a:solidFill>
              <a:srgbClr val="243039"/>
            </a:solidFill>
            <a:prstDash val="solid"/>
          </a:ln>
        </p:spPr>
      </p:sp>
      <p:sp>
        <p:nvSpPr>
          <p:cNvPr id="30" name="Text 23"/>
          <p:cNvSpPr txBox="1"/>
          <p:nvPr/>
        </p:nvSpPr>
        <p:spPr>
          <a:xfrm>
            <a:off x="9144000" y="4818888"/>
            <a:ext cx="2194560" cy="7200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D9A44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4.2x ROI</a:t>
            </a:r>
            <a:endParaRPr lang="en-US" sz="2400" dirty="0"/>
          </a:p>
        </p:txBody>
      </p:sp>
      <p:sp>
        <p:nvSpPr>
          <p:cNvPr id="31" name="Text 24"/>
          <p:cNvSpPr txBox="1"/>
          <p:nvPr/>
        </p:nvSpPr>
        <p:spPr>
          <a:xfrm>
            <a:off x="9144000" y="5541264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E8ED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System Return</a:t>
            </a:r>
            <a:endParaRPr lang="en-US" sz="1150" dirty="0"/>
          </a:p>
        </p:txBody>
      </p:sp>
      <p:sp>
        <p:nvSpPr>
          <p:cNvPr id="32" name="Text 25"/>
          <p:cNvSpPr txBox="1"/>
          <p:nvPr/>
        </p:nvSpPr>
        <p:spPr>
          <a:xfrm>
            <a:off x="9144000" y="5797296"/>
            <a:ext cx="219456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FA0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Value-based care contract gain</a:t>
            </a:r>
            <a:endParaRPr lang="en-US" sz="950" dirty="0"/>
          </a:p>
        </p:txBody>
      </p:sp>
      <p:sp>
        <p:nvSpPr>
          <p:cNvPr id="33" name="Text 26"/>
          <p:cNvSpPr txBox="1"/>
          <p:nvPr/>
        </p:nvSpPr>
        <p:spPr>
          <a:xfrm>
            <a:off x="11002975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8FA0A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05 / 05</a:t>
            </a:r>
            <a:endParaRPr lang="en-US" sz="900" dirty="0"/>
          </a:p>
        </p:txBody>
      </p:sp>
      <p:sp>
        <p:nvSpPr>
          <p:cNvPr id="34" name="Text 27"/>
          <p:cNvSpPr txBox="1"/>
          <p:nvPr/>
        </p:nvSpPr>
        <p:spPr>
          <a:xfrm>
            <a:off x="640080" y="64465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8FA0A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RXPULSE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659</Words>
  <Application>Microsoft Office PowerPoint</Application>
  <PresentationFormat>Widescreen</PresentationFormat>
  <Paragraphs>89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Calibri</vt:lpstr>
      <vt:lpstr>Segoe UI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Tanish Kuvar</cp:lastModifiedBy>
  <cp:revision>11</cp:revision>
  <dcterms:created xsi:type="dcterms:W3CDTF">2026-09-17T14:51:49Z</dcterms:created>
  <dcterms:modified xsi:type="dcterms:W3CDTF">2026-09-17T15:00:42Z</dcterms:modified>
</cp:coreProperties>
</file>