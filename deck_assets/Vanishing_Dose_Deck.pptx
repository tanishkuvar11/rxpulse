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ED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Manipal Hackathon 2026</a:t>
            </a:r>
            <a:endParaRPr lang="en-US" sz="4200" dirty="0"/>
          </a:p>
        </p:txBody>
      </p:sp>
      <p:pic>
        <p:nvPicPr>
          <p:cNvPr id="3" name="Image 0" descr="E:\Hackathons\manipal-hackathon\vanishing-dose\manipal_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255" y="411480"/>
            <a:ext cx="1645920" cy="731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1325880"/>
            <a:ext cx="10698480" cy="0"/>
          </a:xfrm>
          <a:prstGeom prst="line">
            <a:avLst/>
          </a:prstGeom>
          <a:noFill/>
          <a:ln w="19050">
            <a:solidFill>
              <a:srgbClr val="24303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554480"/>
            <a:ext cx="10716768" cy="4663440"/>
          </a:xfrm>
          <a:prstGeom prst="roundRect">
            <a:avLst>
              <a:gd name="adj" fmla="val 1569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05840" y="1737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Name: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3474720" y="1737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RxPulse (Team Aman)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3591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Track: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3474720" y="23591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(SDG 3: Good Health and Well-being)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98094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Statement: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298094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P01: The Vanishing Dose: Detecting Medication Non-Adherence Without Asking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36027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Title: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360273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RxPulse: Multi-Signal Clinical Decision Support &amp; Adherence Telemetry Engine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42245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Members: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3474720" y="42245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Aman, Tanish Kuvar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4846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 Prototype: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6FB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https://github.com/tanishkuvar11/RxPulse</a:t>
            </a:r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(Live Demo: </a:t>
            </a:r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6FB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http://localhost:5173/simulator</a:t>
            </a:r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54681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 Target: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3474720" y="5468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Ideation + Section 8.6 Prototype Bonus Submission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FA0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05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FA0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RXPULSE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457200" cy="457200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3" name="Image 0" descr="E:\Hackathons\manipal-hackathon\vanishing-dose\deck_assets\icons\alert_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470916"/>
            <a:ext cx="338328" cy="3383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3444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CLINICAL SOLUTION &amp; LIVE PROTOTYPE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914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D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Solution: Detecting White-Coat Adherence Before Hazardous Dose Escalation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4663440" cy="2286000"/>
          </a:xfrm>
          <a:prstGeom prst="roundRect">
            <a:avLst>
              <a:gd name="adj" fmla="val 2800"/>
            </a:avLst>
          </a:prstGeom>
          <a:solidFill>
            <a:srgbClr val="161E25"/>
          </a:solidFill>
          <a:ln w="12700">
            <a:solidFill>
              <a:srgbClr val="E0637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17373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063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CLINICAL HAZARD: DOSE ESCALATION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057400"/>
            <a:ext cx="4206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hypertension persists, doctors reflexively double the prescription. If missed doses are the real cause, dosage escalation becomes dangerous the moment the patient resumes daily medication: risking acute hypotension, dizziness, or emergency room visits.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40080" y="4023360"/>
            <a:ext cx="4663440" cy="2240280"/>
          </a:xfrm>
          <a:prstGeom prst="roundRect">
            <a:avLst>
              <a:gd name="adj" fmla="val 2857"/>
            </a:avLst>
          </a:prstGeom>
          <a:solidFill>
            <a:srgbClr val="161E25"/>
          </a:solidFill>
          <a:ln w="12700">
            <a:solidFill>
              <a:srgbClr val="6FBF8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41605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BF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RXPULSE CLINICAL EVIDENCE ENGINE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48056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Pharmacy Claims: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unmedicated refill gaps (e.g. 22-day gaps).
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Smartwatch Telemetry: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autonomic heart rate rebounds (+14 bpm).
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Non-Accusatory CDS: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Prompts: "DO NOT ESCALATE DOSE: Pre-Visit Surge Detected".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532120" y="1600200"/>
            <a:ext cx="6035040" cy="4082796"/>
          </a:xfrm>
          <a:prstGeom prst="roundRect">
            <a:avLst>
              <a:gd name="adj" fmla="val 2016"/>
            </a:avLst>
          </a:prstGeom>
          <a:solidFill>
            <a:srgbClr val="0B0F13"/>
          </a:solidFill>
          <a:ln w="12700">
            <a:solidFill>
              <a:srgbClr val="243039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78424" y="1714500"/>
            <a:ext cx="82296" cy="82296"/>
          </a:xfrm>
          <a:prstGeom prst="ellipse">
            <a:avLst/>
          </a:prstGeom>
          <a:solidFill>
            <a:srgbClr val="E0637A"/>
          </a:solidFill>
          <a:ln/>
        </p:spPr>
      </p:sp>
      <p:sp>
        <p:nvSpPr>
          <p:cNvPr id="14" name="Shape 11"/>
          <p:cNvSpPr/>
          <p:nvPr/>
        </p:nvSpPr>
        <p:spPr>
          <a:xfrm>
            <a:off x="5861304" y="1714500"/>
            <a:ext cx="82296" cy="82296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15" name="Shape 12"/>
          <p:cNvSpPr/>
          <p:nvPr/>
        </p:nvSpPr>
        <p:spPr>
          <a:xfrm>
            <a:off x="6044184" y="1714500"/>
            <a:ext cx="82296" cy="82296"/>
          </a:xfrm>
          <a:prstGeom prst="ellipse">
            <a:avLst/>
          </a:prstGeom>
          <a:solidFill>
            <a:srgbClr val="6FBF8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72200" y="1627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FA0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RXPULSE.APP/SIMULATOR</a:t>
            </a:r>
            <a:endParaRPr lang="en-US" sz="900" dirty="0"/>
          </a:p>
        </p:txBody>
      </p:sp>
      <p:pic>
        <p:nvPicPr>
          <p:cNvPr id="17" name="Image 1" descr="E:\Hackathons\manipal-hackathon\vanishing-dose\deck_assets\shot_simula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408" y="1911096"/>
            <a:ext cx="5998464" cy="375361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FA0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05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64008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FA0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RXPULSE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457200" cy="457200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3" name="Image 0" descr="E:\Hackathons\manipal-hackathon\vanishing-dose\deck_assets\icons\grid_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470916"/>
            <a:ext cx="338328" cy="3383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3444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&amp; ALGORITHMIC ENGINE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914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ED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Implementation: Pipeline, Conformal ML &amp; Modern EHR Interface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2560320" cy="1783080"/>
          </a:xfrm>
          <a:prstGeom prst="roundRect">
            <a:avLst>
              <a:gd name="adj" fmla="val 3590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560320" y="1691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1719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Pipeline (Polars)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2084832"/>
            <a:ext cx="2194560" cy="0"/>
          </a:xfrm>
          <a:prstGeom prst="line">
            <a:avLst/>
          </a:prstGeom>
          <a:noFill/>
          <a:ln w="12700">
            <a:solidFill>
              <a:srgbClr val="24303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176272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116k+ CMS Medicare beneficiaries, maps RxNorm ingredients, computes daily PDC, censors inpatient stays.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383280" y="1554480"/>
            <a:ext cx="2560320" cy="1783080"/>
          </a:xfrm>
          <a:prstGeom prst="roundRect">
            <a:avLst>
              <a:gd name="adj" fmla="val 3590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303520" y="1691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566160" y="1719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Archetypes (GMM)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566160" y="2084832"/>
            <a:ext cx="2194560" cy="0"/>
          </a:xfrm>
          <a:prstGeom prst="line">
            <a:avLst/>
          </a:prstGeom>
          <a:noFill/>
          <a:ln w="12700">
            <a:solidFill>
              <a:srgbClr val="24303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6160" y="2176272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Gaussian Mixture Models classify refill behavior into 6 profiles: weekend skippers, cost drop-offs, erratic fills.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26480" y="1554480"/>
            <a:ext cx="2560320" cy="1783080"/>
          </a:xfrm>
          <a:prstGeom prst="roundRect">
            <a:avLst>
              <a:gd name="adj" fmla="val 3590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1691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1719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AI Abstention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309360" y="2084832"/>
            <a:ext cx="2194560" cy="0"/>
          </a:xfrm>
          <a:prstGeom prst="line">
            <a:avLst/>
          </a:prstGeom>
          <a:noFill/>
          <a:ln w="12700">
            <a:solidFill>
              <a:srgbClr val="24303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2176272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Split-Conformal Prediction calculates strict confidence intervals. Abstains when data is sparse, refusing false guesses.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869680" y="1554480"/>
            <a:ext cx="2560320" cy="1783080"/>
          </a:xfrm>
          <a:prstGeom prst="roundRect">
            <a:avLst>
              <a:gd name="adj" fmla="val 3590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789920" y="1691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052560" y="1719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EHR React Engine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052560" y="2084832"/>
            <a:ext cx="2194560" cy="0"/>
          </a:xfrm>
          <a:prstGeom prst="line">
            <a:avLst/>
          </a:prstGeom>
          <a:noFill/>
          <a:ln w="12700">
            <a:solidFill>
              <a:srgbClr val="24303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52560" y="2176272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Visx charts, fully offline execution, and an EHR-style concept interface with a patient mobile companion preview (illustrative mockups, not a real EHR integration).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134917" y="3520440"/>
            <a:ext cx="3891686" cy="2743200"/>
          </a:xfrm>
          <a:prstGeom prst="roundRect">
            <a:avLst>
              <a:gd name="adj" fmla="val 3000"/>
            </a:avLst>
          </a:prstGeom>
          <a:solidFill>
            <a:srgbClr val="0B0F13"/>
          </a:solidFill>
          <a:ln w="12700">
            <a:solidFill>
              <a:srgbClr val="243039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281221" y="3634740"/>
            <a:ext cx="82296" cy="82296"/>
          </a:xfrm>
          <a:prstGeom prst="ellipse">
            <a:avLst/>
          </a:prstGeom>
          <a:solidFill>
            <a:srgbClr val="E0637A"/>
          </a:solidFill>
          <a:ln/>
        </p:spPr>
      </p:sp>
      <p:sp>
        <p:nvSpPr>
          <p:cNvPr id="28" name="Shape 25"/>
          <p:cNvSpPr/>
          <p:nvPr/>
        </p:nvSpPr>
        <p:spPr>
          <a:xfrm>
            <a:off x="4464101" y="3634740"/>
            <a:ext cx="82296" cy="82296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29" name="Shape 26"/>
          <p:cNvSpPr/>
          <p:nvPr/>
        </p:nvSpPr>
        <p:spPr>
          <a:xfrm>
            <a:off x="4646981" y="3634740"/>
            <a:ext cx="82296" cy="82296"/>
          </a:xfrm>
          <a:prstGeom prst="ellipse">
            <a:avLst/>
          </a:prstGeom>
          <a:solidFill>
            <a:srgbClr val="6FBF8B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74997" y="35478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FA0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RXPULSE.APP/CLINICAL-TIMELINE</a:t>
            </a:r>
            <a:endParaRPr lang="en-US" sz="900" dirty="0"/>
          </a:p>
        </p:txBody>
      </p:sp>
      <p:pic>
        <p:nvPicPr>
          <p:cNvPr id="31" name="Image 1" descr="E:\Hackathons\manipal-hackathon\vanishing-dose\deck_assets\shot_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3205" y="3831336"/>
            <a:ext cx="3855110" cy="2414016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FA0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05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64008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FA0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RXPULSE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457200" cy="457200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3" name="Image 0" descr="E:\Hackathons\manipal-hackathon\vanishing-dose\deck_assets\icons\shield_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470916"/>
            <a:ext cx="338328" cy="3383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3444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VALIDATION, INTEGRATION &amp; CLINICAL SAFETY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914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ED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Feasibility: Empirical Validation, Data Provenance &amp; Point-of-Care Safety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3429000" cy="3108960"/>
          </a:xfrm>
          <a:prstGeom prst="roundRect">
            <a:avLst>
              <a:gd name="adj" fmla="val 2059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68680" y="1828800"/>
            <a:ext cx="438912" cy="438912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8" name="Image 1" descr="E:\Hackathons\manipal-hackathon\vanishing-dose\deck_assets\icons\trend_grou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39" y="1885859"/>
            <a:ext cx="324795" cy="3247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185623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ED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Statistical Power &amp; Validation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68680" y="2377440"/>
            <a:ext cx="2971800" cy="0"/>
          </a:xfrm>
          <a:prstGeom prst="line">
            <a:avLst/>
          </a:prstGeom>
          <a:noFill/>
          <a:ln w="12700">
            <a:solidFill>
              <a:srgbClr val="243039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2496312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validation harness running 40 replicate synthetic cohorts with 2 noise levels. Reaches 80% power at 1.3 percentage point effect size. Predicted coverage tightly tracks realized diagonal.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361688" y="1600200"/>
            <a:ext cx="3429000" cy="3108960"/>
          </a:xfrm>
          <a:prstGeom prst="roundRect">
            <a:avLst>
              <a:gd name="adj" fmla="val 2059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590288" y="1828800"/>
            <a:ext cx="438912" cy="438912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14" name="Image 2" descr="E:\Hackathons\manipal-hackathon\vanishing-dose\deck_assets\icons\database_grou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7347" y="1885859"/>
            <a:ext cx="324795" cy="32479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38928" y="185623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ED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Provenance &amp; CMS Analysis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90288" y="2377440"/>
            <a:ext cx="2971800" cy="0"/>
          </a:xfrm>
          <a:prstGeom prst="line">
            <a:avLst/>
          </a:prstGeom>
          <a:noFill/>
          <a:ln w="12700">
            <a:solidFill>
              <a:srgbClr val="243039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590288" y="2496312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real CMS DE-SynPUF Medicare claims (5,237 continuous beneficiaries, 6,286 pairs). Explicit provenance tags (measured, derived, simulated) disclose CMS privacy perturbation (+0.0 pp measured lift).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8083296" y="1600200"/>
            <a:ext cx="3429000" cy="3108960"/>
          </a:xfrm>
          <a:prstGeom prst="roundRect">
            <a:avLst>
              <a:gd name="adj" fmla="val 2059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311896" y="1828800"/>
            <a:ext cx="438912" cy="438912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20" name="Image 3" descr="E:\Hackathons\manipal-hackathon\vanishing-dose\deck_assets\icons\lock_grou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8955" y="1885859"/>
            <a:ext cx="324795" cy="32479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860536" y="185623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ED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EHR Safety &amp; Offline Runtime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8311896" y="2377440"/>
            <a:ext cx="2971800" cy="0"/>
          </a:xfrm>
          <a:prstGeom prst="line">
            <a:avLst/>
          </a:prstGeom>
          <a:noFill/>
          <a:ln w="12700">
            <a:solidFill>
              <a:srgbClr val="243039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311896" y="2496312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offline runtime execution with zero external API calls at point of care. Deterministic, seeded pipeline guarantees byte-identical results. Non-accusatory doctor conversation tips integrated into EHR.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40080" y="4892040"/>
            <a:ext cx="3429000" cy="1188720"/>
          </a:xfrm>
          <a:prstGeom prst="roundRect">
            <a:avLst>
              <a:gd name="adj" fmla="val 4615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5001768"/>
            <a:ext cx="306324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80% Power</a:t>
            </a:r>
            <a:endParaRPr lang="en-US" sz="2400" dirty="0"/>
          </a:p>
        </p:txBody>
      </p:sp>
      <p:sp>
        <p:nvSpPr>
          <p:cNvPr id="26" name="Text 20"/>
          <p:cNvSpPr txBox="1"/>
          <p:nvPr/>
        </p:nvSpPr>
        <p:spPr>
          <a:xfrm>
            <a:off x="822960" y="551017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Effect Sensitivity</a:t>
            </a:r>
            <a:endParaRPr lang="en-US" sz="1150" dirty="0"/>
          </a:p>
        </p:txBody>
      </p:sp>
      <p:sp>
        <p:nvSpPr>
          <p:cNvPr id="27" name="Text 21"/>
          <p:cNvSpPr txBox="1"/>
          <p:nvPr/>
        </p:nvSpPr>
        <p:spPr>
          <a:xfrm>
            <a:off x="822960" y="5766206"/>
            <a:ext cx="3063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1.3 pp true pre-visit surge effect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4361688" y="4892040"/>
            <a:ext cx="3429000" cy="1188720"/>
          </a:xfrm>
          <a:prstGeom prst="roundRect">
            <a:avLst>
              <a:gd name="adj" fmla="val 4615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544568" y="5001768"/>
            <a:ext cx="306324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5,237</a:t>
            </a:r>
            <a:endParaRPr lang="en-US" sz="2400" dirty="0"/>
          </a:p>
        </p:txBody>
      </p:sp>
      <p:sp>
        <p:nvSpPr>
          <p:cNvPr id="30" name="Text 24"/>
          <p:cNvSpPr txBox="1"/>
          <p:nvPr/>
        </p:nvSpPr>
        <p:spPr>
          <a:xfrm>
            <a:off x="4544568" y="551017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Medicare Cohort Beneficiaries</a:t>
            </a:r>
            <a:endParaRPr lang="en-US" sz="1150" dirty="0"/>
          </a:p>
        </p:txBody>
      </p:sp>
      <p:sp>
        <p:nvSpPr>
          <p:cNvPr id="31" name="Text 25"/>
          <p:cNvSpPr txBox="1"/>
          <p:nvPr/>
        </p:nvSpPr>
        <p:spPr>
          <a:xfrm>
            <a:off x="4544568" y="5766206"/>
            <a:ext cx="3063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DE-SynPUF continuous Medicare study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8083296" y="4892040"/>
            <a:ext cx="3429000" cy="1188720"/>
          </a:xfrm>
          <a:prstGeom prst="roundRect">
            <a:avLst>
              <a:gd name="adj" fmla="val 4615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8266176" y="5001768"/>
            <a:ext cx="306324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API Calls</a:t>
            </a:r>
            <a:endParaRPr lang="en-US" sz="2400" dirty="0"/>
          </a:p>
        </p:txBody>
      </p:sp>
      <p:sp>
        <p:nvSpPr>
          <p:cNvPr id="34" name="Text 28"/>
          <p:cNvSpPr txBox="1"/>
          <p:nvPr/>
        </p:nvSpPr>
        <p:spPr>
          <a:xfrm>
            <a:off x="8266176" y="551017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EHR Clinical Safety</a:t>
            </a:r>
            <a:endParaRPr lang="en-US" sz="1150" dirty="0"/>
          </a:p>
        </p:txBody>
      </p:sp>
      <p:sp>
        <p:nvSpPr>
          <p:cNvPr id="35" name="Text 29"/>
          <p:cNvSpPr txBox="1"/>
          <p:nvPr/>
        </p:nvSpPr>
        <p:spPr>
          <a:xfrm>
            <a:off x="8266176" y="5766206"/>
            <a:ext cx="3063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network dependencies at point of care</a:t>
            </a:r>
            <a:endParaRPr lang="en-US" sz="950" dirty="0"/>
          </a:p>
        </p:txBody>
      </p:sp>
      <p:sp>
        <p:nvSpPr>
          <p:cNvPr id="36" name="Text 30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FA0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05</a:t>
            </a:r>
            <a:endParaRPr lang="en-US" sz="900" dirty="0"/>
          </a:p>
        </p:txBody>
      </p:sp>
      <p:sp>
        <p:nvSpPr>
          <p:cNvPr id="37" name="Text 31"/>
          <p:cNvSpPr txBox="1"/>
          <p:nvPr/>
        </p:nvSpPr>
        <p:spPr>
          <a:xfrm>
            <a:off x="64008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FA0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RXPULSE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457200" cy="457200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3" name="Image 0" descr="E:\Hackathons\manipal-hackathon\vanishing-dose\deck_assets\icons\package_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470916"/>
            <a:ext cx="338328" cy="3383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3444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VALUE-BASED CARE, ROI &amp; SCALING ROADMAP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914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ED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Strategy: Unlocking Value-Based Care Savings &amp; EHR Integration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3429000" cy="2971800"/>
          </a:xfrm>
          <a:prstGeom prst="roundRect">
            <a:avLst>
              <a:gd name="adj" fmla="val 2154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68680" y="1828800"/>
            <a:ext cx="438912" cy="438912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8" name="Image 1" descr="E:\Hackathons\manipal-hackathon\vanishing-dose\deck_assets\icons\pie_grou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39" y="1885859"/>
            <a:ext cx="324795" cy="3247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185623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ED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Value-Based Care &amp; Hospital ROI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68680" y="2377440"/>
            <a:ext cx="2971800" cy="0"/>
          </a:xfrm>
          <a:prstGeom prst="line">
            <a:avLst/>
          </a:prstGeom>
          <a:noFill/>
          <a:ln w="12700">
            <a:solidFill>
              <a:srgbClr val="243039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2496312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50"/>
              </a:lnSpc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costly acute ER admissions caused by post-surge hypotension.
</a:t>
            </a:r>
            <a:endParaRPr lang="en-US" sz="1050" dirty="0"/>
          </a:p>
          <a:p>
            <a:pPr marL="342900" indent="-342900">
              <a:lnSpc>
                <a:spcPts val="1450"/>
              </a:lnSpc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CMS Hospital Readmissions Reduction Program (HRRP) penalties.
</a:t>
            </a:r>
            <a:endParaRPr lang="en-US" sz="1050" dirty="0"/>
          </a:p>
          <a:p>
            <a:pPr marL="342900" indent="-342900">
              <a:lnSpc>
                <a:spcPts val="1450"/>
              </a:lnSpc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Boosts HEDIS medication adherence quality scores for Medicare Advantage plans.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61688" y="1600200"/>
            <a:ext cx="3429000" cy="2971800"/>
          </a:xfrm>
          <a:prstGeom prst="roundRect">
            <a:avLst>
              <a:gd name="adj" fmla="val 2154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590288" y="1828800"/>
            <a:ext cx="438912" cy="438912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14" name="Image 2" descr="E:\Hackathons\manipal-hackathon\vanishing-dose\deck_assets\icons\clipboard_grou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7347" y="1885859"/>
            <a:ext cx="324795" cy="32479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38928" y="185623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ED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Point-of-Care EHR Integration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90288" y="2377440"/>
            <a:ext cx="2971800" cy="0"/>
          </a:xfrm>
          <a:prstGeom prst="line">
            <a:avLst/>
          </a:prstGeom>
          <a:noFill/>
          <a:ln w="12700">
            <a:solidFill>
              <a:srgbClr val="243039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590288" y="2496312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50"/>
              </a:lnSpc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on FHIR plugin architecture for Epic, Cerner, and Athenahealth.
</a:t>
            </a:r>
            <a:endParaRPr lang="en-US" sz="1050" dirty="0"/>
          </a:p>
          <a:p>
            <a:pPr marL="342900" indent="-342900">
              <a:lnSpc>
                <a:spcPts val="1450"/>
              </a:lnSpc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1-click doctor clinical action suite: Maintain dose, ship smart pill caps, or issue co-pay cards.
</a:t>
            </a:r>
            <a:endParaRPr lang="en-US" sz="1050" dirty="0"/>
          </a:p>
          <a:p>
            <a:pPr marL="342900" indent="-342900">
              <a:lnSpc>
                <a:spcPts val="1450"/>
              </a:lnSpc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non-accusatory progress note insertion directly into EHR records.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8083296" y="1600200"/>
            <a:ext cx="3429000" cy="2971800"/>
          </a:xfrm>
          <a:prstGeom prst="roundRect">
            <a:avLst>
              <a:gd name="adj" fmla="val 2154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311896" y="1828800"/>
            <a:ext cx="438912" cy="438912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20" name="Image 3" descr="E:\Hackathons\manipal-hackathon\vanishing-dose\deck_assets\icons\activity_grou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8955" y="1885859"/>
            <a:ext cx="324795" cy="32479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860536" y="185623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ED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Scaling Roadmap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8311896" y="2377440"/>
            <a:ext cx="2971800" cy="0"/>
          </a:xfrm>
          <a:prstGeom prst="line">
            <a:avLst/>
          </a:prstGeom>
          <a:noFill/>
          <a:ln w="12700">
            <a:solidFill>
              <a:srgbClr val="243039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311896" y="2496312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50"/>
              </a:lnSpc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Hospital EHR plugin + CarePulse patient mobile app launch.
</a:t>
            </a:r>
            <a:endParaRPr lang="en-US" sz="1050" dirty="0"/>
          </a:p>
          <a:p>
            <a:pPr marL="342900" indent="-342900">
              <a:lnSpc>
                <a:spcPts val="1450"/>
              </a:lnSpc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Health system enterprise licensing &amp; PBM risk-sharing partnerships.
</a:t>
            </a:r>
            <a:endParaRPr lang="en-US" sz="1050" dirty="0"/>
          </a:p>
          <a:p>
            <a:pPr marL="342900" indent="-342900">
              <a:lnSpc>
                <a:spcPts val="1450"/>
              </a:lnSpc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Native wearable telemetry API (Apple HealthKit &amp; Google Health Connect).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40080" y="4709160"/>
            <a:ext cx="10881360" cy="1600200"/>
          </a:xfrm>
          <a:prstGeom prst="roundRect">
            <a:avLst>
              <a:gd name="adj" fmla="val 4000"/>
            </a:avLst>
          </a:prstGeom>
          <a:solidFill>
            <a:srgbClr val="1B242C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68680" y="486460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A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case: a hypothesis, not a costed projection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868680" y="5193792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dose escalations driven by white-coat adherence are avoided, some fraction of preventable ICU admissions and ER readmissions should follow. We have not costed this: no dollar savings or ROI figure in this deck is computed from our pipeline or from real hospital data. Validated so far: on the real CMS cohort the measured lift is +0.0 pp; on injected synthetic data the detector reaches 80% power at a 1.3 pp effect size. Turning that into a hospital P&amp;L case is future work, not a claim made here.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FA0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05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64008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FA0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RXPULSE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2026-09-17T16:08:53Z</dcterms:created>
  <dcterms:modified xsi:type="dcterms:W3CDTF">2026-09-17T16:08:53Z</dcterms:modified>
</cp:coreProperties>
</file>