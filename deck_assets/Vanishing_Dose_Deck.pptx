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Manipal Hackathon 2026</a:t>
            </a:r>
            <a:endParaRPr lang="en-US" sz="4200" dirty="0"/>
          </a:p>
        </p:txBody>
      </p:sp>
      <p:pic>
        <p:nvPicPr>
          <p:cNvPr id="3" name="Image 0" descr="E:\Hackathons\manipal-hackathon\vanishing-dose\manipa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4255" y="411480"/>
            <a:ext cx="16459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25880"/>
            <a:ext cx="10698480" cy="0"/>
          </a:xfrm>
          <a:prstGeom prst="line">
            <a:avLst/>
          </a:prstGeom>
          <a:noFill/>
          <a:ln w="19050">
            <a:solidFill>
              <a:srgbClr val="24303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554480"/>
            <a:ext cx="10716768" cy="4663440"/>
          </a:xfrm>
          <a:prstGeom prst="roundRect">
            <a:avLst>
              <a:gd name="adj" fmla="val 156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Name: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RxPulse (Team Aman)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Track: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3591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(SDG 3: Good Health and Well-being)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980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Statement: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980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P01: The Vanishing Dose: Detecting Medication Non-Adherence Without Asking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602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Title: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360273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RxPulse: Multi-Signal Clinical Decision Support &amp; Adherence Telemetry Engine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4224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Members: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Aman, Tanish Kuvar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Prototype: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6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https://github.com/tanishkuvar11/RxPulse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(Live Demo: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6FB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http://localhost:5173/simulator</a:t>
            </a:r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54681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Target: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54681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Ideation + Section 8.6 Prototype Bonus Submission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alert_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SOLUTION &amp; LIVE PROTOTYPE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Solution: Detecting White-Coat Adherence Before Hazardous Dose Escalation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663440" cy="2286000"/>
          </a:xfrm>
          <a:prstGeom prst="roundRect">
            <a:avLst>
              <a:gd name="adj" fmla="val 2800"/>
            </a:avLst>
          </a:prstGeom>
          <a:solidFill>
            <a:srgbClr val="161E25"/>
          </a:solidFill>
          <a:ln w="12700">
            <a:solidFill>
              <a:srgbClr val="E0637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7373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63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CLINICAL HAZARD: DOSE ESCALATION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057400"/>
            <a:ext cx="4206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hypertension persists, doctors reflexively double the prescription. If missed doses are the real cause, dosage escalation becomes dangerous the moment the patient resumes daily medication: risking acute hypotension, dizziness, or emergency room visits.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4663440" cy="2240280"/>
          </a:xfrm>
          <a:prstGeom prst="roundRect">
            <a:avLst>
              <a:gd name="adj" fmla="val 2857"/>
            </a:avLst>
          </a:prstGeom>
          <a:solidFill>
            <a:srgbClr val="161E25"/>
          </a:solidFill>
          <a:ln w="12700">
            <a:solidFill>
              <a:srgbClr val="6FBF8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B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 CLINICAL EVIDENCE ENGINE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4805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Pharmacy Claims: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unmedicated refill gaps (e.g. 22-day gaps).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Smartwatch Telemetry: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autonomic heart rate rebounds (+14 bpm).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Non-Accusatory CDS: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Prompts: "DO NOT ESCALATE DOSE: Pre-Visit Surge Detected".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1600200"/>
            <a:ext cx="6035040" cy="4082796"/>
          </a:xfrm>
          <a:prstGeom prst="roundRect">
            <a:avLst>
              <a:gd name="adj" fmla="val 2016"/>
            </a:avLst>
          </a:prstGeom>
          <a:solidFill>
            <a:srgbClr val="0B0F13"/>
          </a:solidFill>
          <a:ln w="12700">
            <a:solidFill>
              <a:srgbClr val="24303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78424" y="1714500"/>
            <a:ext cx="82296" cy="822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14" name="Shape 11"/>
          <p:cNvSpPr/>
          <p:nvPr/>
        </p:nvSpPr>
        <p:spPr>
          <a:xfrm>
            <a:off x="5861304" y="171450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Shape 12"/>
          <p:cNvSpPr/>
          <p:nvPr/>
        </p:nvSpPr>
        <p:spPr>
          <a:xfrm>
            <a:off x="6044184" y="1714500"/>
            <a:ext cx="82296" cy="82296"/>
          </a:xfrm>
          <a:prstGeom prst="ellipse">
            <a:avLst/>
          </a:prstGeom>
          <a:solidFill>
            <a:srgbClr val="6FBF8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7220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RXPULSE.APP/SIMULATOR</a:t>
            </a:r>
            <a:endParaRPr lang="en-US" sz="900" dirty="0"/>
          </a:p>
        </p:txBody>
      </p:sp>
      <p:pic>
        <p:nvPicPr>
          <p:cNvPr id="17" name="Image 1" descr="E:\Hackathons\manipal-hackathon\vanishing-dose\deck_assets\shot_sim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911096"/>
            <a:ext cx="5998464" cy="37536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05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grid_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ALGORITHMIC ENGINE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Implementation: Pipeline, Conformal ML &amp; Modern EHR Interface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603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 (Polars)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17627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116k+ CMS Medicare beneficiaries, maps RxNorm ingredients, computes daily PDC, censors inpatient stays.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661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Archetypes (GMM)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661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217627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Gaussian Mixture Models classify refill behavior into 6 profiles: weekend skippers, cost drop-offs, erratic fills.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AI Abstention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093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217627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Split-Conformal Prediction calculates strict confidence intervals. Abstains when data is sparse, refusing false guesses.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69680" y="1554480"/>
            <a:ext cx="2560320" cy="1783080"/>
          </a:xfrm>
          <a:prstGeom prst="roundRect">
            <a:avLst>
              <a:gd name="adj" fmla="val 3590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78992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React Engine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052560" y="2084832"/>
            <a:ext cx="219456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52560" y="2176272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design, interactive Visx charts, offline execution, and CarePulse patient mobile companion preview.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34917" y="3520440"/>
            <a:ext cx="3891686" cy="2743200"/>
          </a:xfrm>
          <a:prstGeom prst="roundRect">
            <a:avLst>
              <a:gd name="adj" fmla="val 3000"/>
            </a:avLst>
          </a:prstGeom>
          <a:solidFill>
            <a:srgbClr val="0B0F13"/>
          </a:solidFill>
          <a:ln w="12700">
            <a:solidFill>
              <a:srgbClr val="243039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81221" y="3634740"/>
            <a:ext cx="82296" cy="82296"/>
          </a:xfrm>
          <a:prstGeom prst="ellipse">
            <a:avLst/>
          </a:prstGeom>
          <a:solidFill>
            <a:srgbClr val="E0637A"/>
          </a:solidFill>
          <a:ln/>
        </p:spPr>
      </p:sp>
      <p:sp>
        <p:nvSpPr>
          <p:cNvPr id="28" name="Shape 25"/>
          <p:cNvSpPr/>
          <p:nvPr/>
        </p:nvSpPr>
        <p:spPr>
          <a:xfrm>
            <a:off x="4464101" y="3634740"/>
            <a:ext cx="82296" cy="822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Shape 26"/>
          <p:cNvSpPr/>
          <p:nvPr/>
        </p:nvSpPr>
        <p:spPr>
          <a:xfrm>
            <a:off x="4646981" y="3634740"/>
            <a:ext cx="82296" cy="82296"/>
          </a:xfrm>
          <a:prstGeom prst="ellipse">
            <a:avLst/>
          </a:prstGeom>
          <a:solidFill>
            <a:srgbClr val="6FBF8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74997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RXPULSE.APP/CLINICAL-TIMELINE</a:t>
            </a:r>
            <a:endParaRPr lang="en-US" sz="900" dirty="0"/>
          </a:p>
        </p:txBody>
      </p:sp>
      <p:pic>
        <p:nvPicPr>
          <p:cNvPr id="31" name="Image 1" descr="E:\Hackathons\manipal-hackathon\vanishing-dose\deck_assets\shot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205" y="3831336"/>
            <a:ext cx="3855110" cy="24140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05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shield_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VALIDATION, INTEGRATION &amp; CLINICAL SAFETY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Feasibility: Empirical Validation, Data Provenance &amp; Point-of-Care Safety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29000" cy="3108960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E:\Hackathons\manipal-hackathon\vanishing-dose\deck_assets\icons\trend_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9" y="1885859"/>
            <a:ext cx="324795" cy="3247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Power &amp; Validation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249631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 harness running 40 replicate synthetic cohorts with 2 noise levels. Reaches 80% power at 1.3 percentage point effect size. Predicted coverage tightly tracks realized diagonal.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61688" y="1600200"/>
            <a:ext cx="3429000" cy="3108960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0288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2" descr="E:\Hackathons\manipal-hackathon\vanishing-dose\deck_assets\icons\database_g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347" y="1885859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8928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Provenance &amp; CMS Analysis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90288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0288" y="249631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real CMS DE-SynPUF Medicare claims (5,237 continuous beneficiaries, 6,286 pairs). Explicit provenance tags (measured, derived, simulated) disclose CMS privacy perturbation (+0.0 pp measured lift).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83296" y="1600200"/>
            <a:ext cx="3429000" cy="3108960"/>
          </a:xfrm>
          <a:prstGeom prst="roundRect">
            <a:avLst>
              <a:gd name="adj" fmla="val 205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11896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E:\Hackathons\manipal-hackathon\vanishing-dose\deck_assets\icons\lock_gr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955" y="1885859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0536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EHR Safety &amp; Offline Runtime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11896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11896" y="2496312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runtime execution with zero external API calls at point of care. Deterministic, seeded pipeline guarantees byte-identical results. Non-accusatory doctor conversation tips integrated into EHR.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89204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5001768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Power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51017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Effect Sensitivity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76620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1.3 pp true pre-visit surge effect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61688" y="489204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44568" y="5001768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5,237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4544568" y="551017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Cohort Beneficiaries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544568" y="576620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DE-SynPUF continuous Medicare study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8083296" y="489204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266176" y="5001768"/>
            <a:ext cx="306324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API Calls</a:t>
            </a:r>
            <a:endParaRPr lang="en-US" sz="2400" dirty="0"/>
          </a:p>
        </p:txBody>
      </p:sp>
      <p:sp>
        <p:nvSpPr>
          <p:cNvPr id="34" name="Text 28"/>
          <p:cNvSpPr txBox="1"/>
          <p:nvPr/>
        </p:nvSpPr>
        <p:spPr>
          <a:xfrm>
            <a:off x="8266176" y="551017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EHR Clinical Safety</a:t>
            </a:r>
            <a:endParaRPr lang="en-US" sz="1150" dirty="0"/>
          </a:p>
        </p:txBody>
      </p:sp>
      <p:sp>
        <p:nvSpPr>
          <p:cNvPr id="35" name="Text 29"/>
          <p:cNvSpPr txBox="1"/>
          <p:nvPr/>
        </p:nvSpPr>
        <p:spPr>
          <a:xfrm>
            <a:off x="8266176" y="5766206"/>
            <a:ext cx="3063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 dependencies at point of care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05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" name="Image 0" descr="E:\Hackathons\manipal-hackathon\vanishing-dose\deck_assets\icons\package_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470916"/>
            <a:ext cx="338328" cy="3383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VALUE-BASED CARE, ROI &amp; SCALING ROADMAP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91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Strategy: Unlocking Value-Based Care Savings &amp; EHR Integration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1" descr="E:\Hackathons\manipal-hackathon\vanishing-dose\deck_assets\icons\pie_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39" y="1885859"/>
            <a:ext cx="324795" cy="3247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Value-Based Care &amp; Hospital ROI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68680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24963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costly acute ER admissions caused by post-surge hypotension.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CMS Hospital Readmissions Reduction Program (HRRP) penalties.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HEDIS medication adherence quality scores for Medicare Advantage plans.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61688" y="160020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90288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4" name="Image 2" descr="E:\Hackathons\manipal-hackathon\vanishing-dose\deck_assets\icons\clipboard_g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347" y="1885859"/>
            <a:ext cx="324795" cy="3247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8928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Point-of-Care EHR Integration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90288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590288" y="24963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on FHIR plugin architecture for Epic, Cerner, and Athenahealth.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doctor clinical action suite: Maintain dose, ship smart pill caps, or issue co-pay cards.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non-accusatory progress note insertion directly into EHR records.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083296" y="1600200"/>
            <a:ext cx="3429000" cy="2971800"/>
          </a:xfrm>
          <a:prstGeom prst="roundRect">
            <a:avLst>
              <a:gd name="adj" fmla="val 2154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11896" y="1828800"/>
            <a:ext cx="438912" cy="438912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0" name="Image 3" descr="E:\Hackathons\manipal-hackathon\vanishing-dose\deck_assets\icons\activity_gr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955" y="1885859"/>
            <a:ext cx="324795" cy="3247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860536" y="18562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8ED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 Scaling Roadmap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311896" y="2377440"/>
            <a:ext cx="2971800" cy="0"/>
          </a:xfrm>
          <a:prstGeom prst="line">
            <a:avLst/>
          </a:prstGeom>
          <a:noFill/>
          <a:ln w="12700">
            <a:solidFill>
              <a:srgbClr val="243039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311896" y="2496312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Hospital EHR plugin + CarePulse patient mobile app launch.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Health system enterprise licensing &amp; PBM risk-sharing partnerships.
</a:t>
            </a:r>
            <a:endParaRPr lang="en-US" sz="1050" dirty="0"/>
          </a:p>
          <a:p>
            <a:pPr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Native wearable telemetry API (Apple HealthKit &amp; Google Health Connect).</a:t>
            </a:r>
            <a:endParaRPr lang="en-US" sz="1050" dirty="0"/>
          </a:p>
        </p:txBody>
      </p:sp>
      <p:pic>
        <p:nvPicPr>
          <p:cNvPr id="24" name="Image 4" descr="E:\Hackathons\manipal-hackathon\vanishing-dose\presentation_charts\slide5_hospital_roi_savin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09160"/>
            <a:ext cx="5303520" cy="1600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72200" y="4709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355080" y="4818888"/>
            <a:ext cx="22402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BF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$2.4M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6355080" y="55412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Hospital Savings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6355080" y="5797296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covered lives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961120" y="4709160"/>
            <a:ext cx="2560320" cy="1600200"/>
          </a:xfrm>
          <a:prstGeom prst="roundRect">
            <a:avLst>
              <a:gd name="adj" fmla="val 3429"/>
            </a:avLst>
          </a:prstGeom>
          <a:solidFill>
            <a:srgbClr val="161E25"/>
          </a:solidFill>
          <a:ln w="12700">
            <a:solidFill>
              <a:srgbClr val="243039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144000" y="4818888"/>
            <a:ext cx="21945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4.2x ROI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9144000" y="5541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System Return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9144000" y="579729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care contract gain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05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0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RXPULSE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2026-09-17T14:52:27Z</dcterms:created>
  <dcterms:modified xsi:type="dcterms:W3CDTF">2026-09-17T14:52:27Z</dcterms:modified>
</cp:coreProperties>
</file>